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png" ContentType="image/png"/>
  <Default Extension="jpeg" ContentType="image/jpeg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72" r:id="rId1"/>
  </p:sldMasterIdLst>
  <p:notesMasterIdLst>
    <p:notesMasterId r:id="rId2"/>
  </p:notesMasterIdLst>
  <p:sldIdLst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  <p:sldId id="361" r:id="rId39"/>
    <p:sldId id="362" r:id="rId40"/>
    <p:sldId id="363" r:id="rId41"/>
    <p:sldId id="364" r:id="rId42"/>
    <p:sldId id="365" r:id="rId43"/>
    <p:sldId id="366" r:id="rId44"/>
    <p:sldId id="367" r:id="rId45"/>
    <p:sldId id="368" r:id="rId46"/>
    <p:sldId id="369" r:id="rId47"/>
    <p:sldId id="370" r:id="rId48"/>
    <p:sldId id="371" r:id="rId49"/>
    <p:sldId id="372" r:id="rId50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000" autoAdjust="0"/>
    <p:restoredTop sz="94619" autoAdjust="0"/>
  </p:normalViewPr>
  <p:slideViewPr>
    <p:cSldViewPr snapToGrid="0">
      <p:cViewPr varScale="1">
        <p:scale>
          <a:sx n="69" d="100"/>
          <a:sy n="69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5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tableStyles" Target="tableStyles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customXml" Target="../customXml/item1.xml"/><Relationship Id="rId55" Type="http://schemas.openxmlformats.org/officeDocument/2006/relationships/customXmlProps" Target="../customXml/itemProps1.xml"/><Relationship Id="rId5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5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E3DC2955-69D3-45BC-9B13-17C6E16F658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104895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96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6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6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30A82A39-DA0F-4C6D-83B0-0A70B1B0E7E0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6"/>
          <p:cNvSpPr/>
          <p:nvPr/>
        </p:nvSpPr>
        <p:spPr>
          <a:xfrm>
            <a:off x="334901" y="3085765"/>
            <a:ext cx="8474199" cy="3338149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435894" y="1020431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435895" y="2495446"/>
            <a:ext cx="8245160" cy="590321"/>
          </a:xfrm>
        </p:spPr>
        <p:txBody>
          <a:bodyPr anchor="t">
            <a:normAutofit/>
          </a:bodyPr>
          <a:lstStyle>
            <a:lvl1pPr algn="l" indent="0" marL="0">
              <a:buNone/>
              <a:defRPr cap="all" sz="1200">
                <a:solidFill>
                  <a:schemeClr val="accent1"/>
                </a:solidFill>
              </a:defRPr>
            </a:lvl1pPr>
            <a:lvl2pPr algn="ctr" indent="0" marL="3429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685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0287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17145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057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24003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8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291B17-9318-49DB-B28B-6E5994AE9581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588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18872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435895" y="2340864"/>
            <a:ext cx="8272211" cy="3634486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9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8DD82B9-B8EE-4375-B6FF-88FA6ABB15D9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598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7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928" name="Title 1"/>
          <p:cNvSpPr>
            <a:spLocks noGrp="1"/>
          </p:cNvSpPr>
          <p:nvPr>
            <p:ph type="title"/>
          </p:nvPr>
        </p:nvSpPr>
        <p:spPr>
          <a:xfrm>
            <a:off x="435895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b="0" cap="all"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29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algn="l" indent="0" marL="0">
              <a:buNone/>
              <a:defRPr cap="all" sz="1350">
                <a:solidFill>
                  <a:schemeClr val="accent1"/>
                </a:solidFill>
              </a:defRPr>
            </a:lvl1pPr>
            <a:lvl2pPr indent="0" marL="34290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indent="0" marL="6858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indent="0" marL="102870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indent="0" marL="137160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indent="0" marL="171450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indent="0" marL="205740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indent="0" marL="240030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indent="0" marL="274320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497495-0637-405E-AE64-5CC7506D51F5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31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32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3" name="Title 1"/>
          <p:cNvSpPr>
            <a:spLocks noGrp="1"/>
          </p:cNvSpPr>
          <p:nvPr>
            <p:ph type="title"/>
          </p:nvPr>
        </p:nvSpPr>
        <p:spPr>
          <a:xfrm>
            <a:off x="435895" y="729658"/>
            <a:ext cx="8272212" cy="988332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34" name="Content Placeholder 2"/>
          <p:cNvSpPr>
            <a:spLocks noGrp="1"/>
          </p:cNvSpPr>
          <p:nvPr>
            <p:ph sz="half" idx="1"/>
          </p:nvPr>
        </p:nvSpPr>
        <p:spPr>
          <a:xfrm>
            <a:off x="435895" y="2228004"/>
            <a:ext cx="3896075" cy="363304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935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9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BFFD690-9426-415D-8B65-26881E07B2D4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Title 1"/>
          <p:cNvSpPr>
            <a:spLocks noGrp="1"/>
          </p:cNvSpPr>
          <p:nvPr>
            <p:ph type="title"/>
          </p:nvPr>
        </p:nvSpPr>
        <p:spPr>
          <a:xfrm>
            <a:off x="435895" y="729658"/>
            <a:ext cx="8272212" cy="988332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40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indent="0" marL="0">
              <a:buNone/>
              <a:defRPr b="0"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342900">
              <a:buNone/>
              <a:defRPr b="1" sz="1500"/>
            </a:lvl2pPr>
            <a:lvl3pPr indent="0" marL="685800">
              <a:buNone/>
              <a:defRPr b="1" sz="1350"/>
            </a:lvl3pPr>
            <a:lvl4pPr indent="0" marL="1028700">
              <a:buNone/>
              <a:defRPr b="1" sz="1200"/>
            </a:lvl4pPr>
            <a:lvl5pPr indent="0" marL="1371600">
              <a:buNone/>
              <a:defRPr b="1" sz="1200"/>
            </a:lvl5pPr>
            <a:lvl6pPr indent="0" marL="1714500">
              <a:buNone/>
              <a:defRPr b="1" sz="1200"/>
            </a:lvl6pPr>
            <a:lvl7pPr indent="0" marL="2057400">
              <a:buNone/>
              <a:defRPr b="1" sz="1200"/>
            </a:lvl7pPr>
            <a:lvl8pPr indent="0" marL="2400300">
              <a:buNone/>
              <a:defRPr b="1" sz="1200"/>
            </a:lvl8pPr>
            <a:lvl9pPr indent="0" marL="2743200">
              <a:buNone/>
              <a:defRPr b="1"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41" name="Content Placeholder 3"/>
          <p:cNvSpPr>
            <a:spLocks noGrp="1"/>
          </p:cNvSpPr>
          <p:nvPr>
            <p:ph sz="half" idx="2"/>
          </p:nvPr>
        </p:nvSpPr>
        <p:spPr>
          <a:xfrm>
            <a:off x="435895" y="2926053"/>
            <a:ext cx="3896075" cy="2934999"/>
          </a:xfrm>
        </p:spPr>
        <p:txBody>
          <a:bodyPr anchor="t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94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3"/>
            <a:ext cx="3896078" cy="553373"/>
          </a:xfrm>
        </p:spPr>
        <p:txBody>
          <a:bodyPr anchor="ctr">
            <a:noAutofit/>
          </a:bodyPr>
          <a:lstStyle>
            <a:lvl1pPr algn="l" defTabSz="342900" eaLnBrk="1" fontAlgn="auto" hangingPunct="1" indent="0" latinLnBrk="0" marL="0" marR="0" rtl="0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b="0"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342900">
              <a:buNone/>
              <a:defRPr b="1" sz="1500"/>
            </a:lvl2pPr>
            <a:lvl3pPr indent="0" marL="685800">
              <a:buNone/>
              <a:defRPr b="1" sz="1350"/>
            </a:lvl3pPr>
            <a:lvl4pPr indent="0" marL="1028700">
              <a:buNone/>
              <a:defRPr b="1" sz="1200"/>
            </a:lvl4pPr>
            <a:lvl5pPr indent="0" marL="1371600">
              <a:buNone/>
              <a:defRPr b="1" sz="1200"/>
            </a:lvl5pPr>
            <a:lvl6pPr indent="0" marL="1714500">
              <a:buNone/>
              <a:defRPr b="1" sz="1200"/>
            </a:lvl6pPr>
            <a:lvl7pPr indent="0" marL="2057400">
              <a:buNone/>
              <a:defRPr b="1" sz="1200"/>
            </a:lvl7pPr>
            <a:lvl8pPr indent="0" marL="2400300">
              <a:buNone/>
              <a:defRPr b="1" sz="1200"/>
            </a:lvl8pPr>
            <a:lvl9pPr indent="0" marL="2743200">
              <a:buNone/>
              <a:defRPr b="1" sz="1200"/>
            </a:lvl9pPr>
          </a:lstStyle>
          <a:p>
            <a:pPr algn="l" defTabSz="342900" eaLnBrk="1" fontAlgn="auto" hangingPunct="1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943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2926053"/>
            <a:ext cx="3896078" cy="2934999"/>
          </a:xfrm>
        </p:spPr>
        <p:txBody>
          <a:bodyPr anchor="t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94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4C4989A-474C-40DE-95B9-011C28B71673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4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4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Title 1"/>
          <p:cNvSpPr>
            <a:spLocks noGrp="1"/>
          </p:cNvSpPr>
          <p:nvPr>
            <p:ph type="title"/>
          </p:nvPr>
        </p:nvSpPr>
        <p:spPr>
          <a:xfrm>
            <a:off x="431921" y="729658"/>
            <a:ext cx="8272212" cy="988332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0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DB4ED54-5B5E-4A04-93D3-5772E3CE3818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0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0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DE50D6-574B-40AF-946F-D52A04ADE379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0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951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b="0" sz="1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52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953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4"/>
            <a:ext cx="2273889" cy="3001392"/>
          </a:xfrm>
        </p:spPr>
        <p:txBody>
          <a:bodyPr anchor="t">
            <a:normAutofit/>
          </a:bodyPr>
          <a:lstStyle>
            <a:lvl1pPr algn="l" indent="0" marL="0">
              <a:buNone/>
              <a:defRPr sz="1200">
                <a:solidFill>
                  <a:srgbClr val="FFFFFF"/>
                </a:solidFill>
              </a:defRPr>
            </a:lvl1pPr>
            <a:lvl2pPr indent="0" marL="342900">
              <a:buNone/>
              <a:defRPr sz="825"/>
            </a:lvl2pPr>
            <a:lvl3pPr indent="0" marL="685800">
              <a:buNone/>
              <a:defRPr sz="750"/>
            </a:lvl3pPr>
            <a:lvl4pPr indent="0" marL="1028700">
              <a:buNone/>
              <a:defRPr sz="675"/>
            </a:lvl4pPr>
            <a:lvl5pPr indent="0" marL="1371600">
              <a:buNone/>
              <a:defRPr sz="675"/>
            </a:lvl5pPr>
            <a:lvl6pPr indent="0" marL="1714500">
              <a:buNone/>
              <a:defRPr sz="675"/>
            </a:lvl6pPr>
            <a:lvl7pPr indent="0" marL="2057400">
              <a:buNone/>
              <a:defRPr sz="675"/>
            </a:lvl7pPr>
            <a:lvl8pPr indent="0" marL="2400300">
              <a:buNone/>
              <a:defRPr sz="675"/>
            </a:lvl8pPr>
            <a:lvl9pPr indent="0" marL="274320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54" name="Date Placeholder 7"/>
          <p:cNvSpPr>
            <a:spLocks noGrp="1"/>
          </p:cNvSpPr>
          <p:nvPr>
            <p:ph type="dt" sz="half" idx="10"/>
          </p:nvPr>
        </p:nvSpPr>
        <p:spPr>
          <a:xfrm>
            <a:off x="5704464" y="6456917"/>
            <a:ext cx="2133599" cy="365125"/>
          </a:xfrm>
        </p:spPr>
        <p:txBody>
          <a:bodyPr/>
          <a:p>
            <a:fld id="{D82884F1-FFEA-405F-9602-3DCA865EDA4E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55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p>
            <a:endParaRPr dirty="0" lang="en-US"/>
          </a:p>
        </p:txBody>
      </p:sp>
      <p:sp>
        <p:nvSpPr>
          <p:cNvPr id="1048956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918725" y="6456917"/>
            <a:ext cx="789383" cy="365125"/>
          </a:xfrm>
        </p:spPr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b="0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17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35863" y="641351"/>
            <a:ext cx="8468144" cy="3651249"/>
          </a:xfrm>
        </p:spPr>
        <p:txBody>
          <a:bodyPr anchor="t">
            <a:normAutofit/>
          </a:bodyPr>
          <a:lstStyle>
            <a:lvl1pPr algn="ctr" indent="0" marL="0">
              <a:buNone/>
              <a:defRPr sz="1200"/>
            </a:lvl1pPr>
            <a:lvl2pPr indent="0" marL="342900">
              <a:buNone/>
              <a:defRPr sz="1200"/>
            </a:lvl2pPr>
            <a:lvl3pPr indent="0" marL="685800">
              <a:buNone/>
              <a:defRPr sz="1200"/>
            </a:lvl3pPr>
            <a:lvl4pPr indent="0" marL="1028700">
              <a:buNone/>
              <a:defRPr sz="1200"/>
            </a:lvl4pPr>
            <a:lvl5pPr indent="0" marL="1371600">
              <a:buNone/>
              <a:defRPr sz="1200"/>
            </a:lvl5pPr>
            <a:lvl6pPr indent="0" marL="1714500">
              <a:buNone/>
              <a:defRPr sz="1200"/>
            </a:lvl6pPr>
            <a:lvl7pPr indent="0" marL="2057400">
              <a:buNone/>
              <a:defRPr sz="1200"/>
            </a:lvl7pPr>
            <a:lvl8pPr indent="0" marL="2400300">
              <a:buNone/>
              <a:defRPr sz="1200"/>
            </a:lvl8pPr>
            <a:lvl9pPr indent="0" marL="274320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9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5260127"/>
            <a:ext cx="8272213" cy="998148"/>
          </a:xfrm>
        </p:spPr>
        <p:txBody>
          <a:bodyPr anchor="t">
            <a:normAutofit/>
          </a:bodyPr>
          <a:lstStyle>
            <a:lvl1pPr indent="0" marL="0">
              <a:buNone/>
              <a:defRPr sz="1200"/>
            </a:lvl1pPr>
            <a:lvl2pPr indent="0" marL="342900">
              <a:buNone/>
              <a:defRPr sz="900"/>
            </a:lvl2pPr>
            <a:lvl3pPr indent="0" marL="685800">
              <a:buNone/>
              <a:defRPr sz="750"/>
            </a:lvl3pPr>
            <a:lvl4pPr indent="0" marL="1028700">
              <a:buNone/>
              <a:defRPr sz="675"/>
            </a:lvl4pPr>
            <a:lvl5pPr indent="0" marL="1371600">
              <a:buNone/>
              <a:defRPr sz="675"/>
            </a:lvl5pPr>
            <a:lvl6pPr indent="0" marL="1714500">
              <a:buNone/>
              <a:defRPr sz="675"/>
            </a:lvl6pPr>
            <a:lvl7pPr indent="0" marL="2057400">
              <a:buNone/>
              <a:defRPr sz="675"/>
            </a:lvl7pPr>
            <a:lvl8pPr indent="0" marL="2400300">
              <a:buNone/>
              <a:defRPr sz="675"/>
            </a:lvl8pPr>
            <a:lvl9pPr indent="0" marL="274320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1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E18DB4A-8810-4A10-AD5C-D5E2C667F5B3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2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l"/>
            <a:endParaRPr dirty="0" lang="en-US"/>
          </a:p>
        </p:txBody>
      </p:sp>
      <p:sp>
        <p:nvSpPr>
          <p:cNvPr id="104892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2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anchor="t" vert="eaVert"/>
          <a:lstStyle>
            <a:lvl1pPr algn="l"/>
            <a:lvl2pPr algn="l"/>
            <a:lvl3pPr algn="l"/>
            <a:lvl4pPr algn="l"/>
            <a:lvl5pPr algn="l"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9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CED4963-E985-44C4-B8C4-FDD613B7C2F8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908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anchor="ctr" vert="eaVer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90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0"/>
            <a:ext cx="5371219" cy="4807326"/>
          </a:xfrm>
        </p:spPr>
        <p:txBody>
          <a:bodyPr anchor="t"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910" name="Rectangle 7"/>
          <p:cNvSpPr/>
          <p:nvPr/>
        </p:nvSpPr>
        <p:spPr>
          <a:xfrm>
            <a:off x="334901" y="457200"/>
            <a:ext cx="2777490" cy="94997"/>
          </a:xfrm>
          <a:prstGeom prst="rect"/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911" name="Rectangle 8"/>
          <p:cNvSpPr/>
          <p:nvPr/>
        </p:nvSpPr>
        <p:spPr>
          <a:xfrm>
            <a:off x="6031610" y="453643"/>
            <a:ext cx="2777490" cy="98554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912" name="Rectangle 9"/>
          <p:cNvSpPr/>
          <p:nvPr/>
        </p:nvSpPr>
        <p:spPr>
          <a:xfrm>
            <a:off x="3181373" y="457200"/>
            <a:ext cx="2777490" cy="91440"/>
          </a:xfrm>
          <a:prstGeom prst="rect"/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913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291B17-9318-49DB-B28B-6E5994AE9581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914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15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audio" Target="../media/media1.wav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/>
        </p:spPr>
        <p:txBody>
          <a:bodyPr anchor="b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652047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4/24/2026</a:t>
            </a:fld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cap="all"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6423915"/>
            <a:ext cx="789383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581" name="Rectangle 8"/>
          <p:cNvSpPr/>
          <p:nvPr/>
        </p:nvSpPr>
        <p:spPr>
          <a:xfrm>
            <a:off x="334901" y="457200"/>
            <a:ext cx="2777490" cy="9499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582" name="Rectangle 9"/>
          <p:cNvSpPr/>
          <p:nvPr/>
        </p:nvSpPr>
        <p:spPr>
          <a:xfrm>
            <a:off x="6031610" y="453643"/>
            <a:ext cx="2777490" cy="98554"/>
          </a:xfrm>
          <a:prstGeom prst="rect"/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583" name="Rectangle 10"/>
          <p:cNvSpPr/>
          <p:nvPr/>
        </p:nvSpPr>
        <p:spPr>
          <a:xfrm>
            <a:off x="3181373" y="457200"/>
            <a:ext cx="2777490" cy="91440"/>
          </a:xfrm>
          <a:prstGeom prst="rect"/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ndAc>
      <p:stSnd>
        <p:snd r:embed="rId12"/>
      </p:stSnd>
    </p:sndAc>
  </p:transition>
  <p:hf dt="0" ftr="0" hdr="0" sldNum="0"/>
  <p:txStyles>
    <p:titleStyle>
      <a:lvl1pPr algn="l" defTabSz="342900" eaLnBrk="1" hangingPunct="1" latinLnBrk="0" rtl="0">
        <a:lnSpc>
          <a:spcPct val="100000"/>
        </a:lnSpc>
        <a:spcBef>
          <a:spcPct val="0"/>
        </a:spcBef>
        <a:buNone/>
        <a:defRPr b="0" cap="all" sz="21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342900" eaLnBrk="1" hangingPunct="1" indent="-229500" latinLnBrk="0" marL="229500" rtl="0">
        <a:lnSpc>
          <a:spcPct val="11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342900" eaLnBrk="1" hangingPunct="1" indent="-229500" latinLnBrk="0" marL="472500" rtl="0"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342900" eaLnBrk="1" hangingPunct="1" indent="-202500" latinLnBrk="0" marL="675000" rtl="0"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342900" eaLnBrk="1" hangingPunct="1" indent="-175500" latinLnBrk="0" marL="931500" rtl="0"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342900" eaLnBrk="1" hangingPunct="1" indent="-175500" latinLnBrk="0" marL="1201500" rtl="0"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342900" eaLnBrk="1" hangingPunct="1" indent="-171450" latinLnBrk="0" marL="1425000" rtl="0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algn="l" defTabSz="342900" eaLnBrk="1" hangingPunct="1" indent="-171450" latinLnBrk="0" marL="1650000" rtl="0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algn="l" defTabSz="342900" eaLnBrk="1" hangingPunct="1" indent="-171450" latinLnBrk="0" marL="1875000" rtl="0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algn="l" defTabSz="342900" eaLnBrk="1" hangingPunct="1" indent="-171450" latinLnBrk="0" marL="2100000" rtl="0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audio" Target="../media/media1.wav"/><Relationship Id="rId5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audio" Target="../media/media1.wav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hyperlink" Target="http://www.cis.upenn.edu/~KeyKOS/ConfusedDeputy.html" TargetMode="External"/><Relationship Id="rId2" Type="http://schemas.openxmlformats.org/officeDocument/2006/relationships/audio" Target="../media/media1.wav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audio" Target="../media/media1.wav"/><Relationship Id="rId3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audio" Target="../media/media1.wav"/><Relationship Id="rId3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audio" Target="../media/media1.wav"/><Relationship Id="rId3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audio" Target="../media/media1.wav"/><Relationship Id="rId3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audio" Target="../media/media1.wav"/><Relationship Id="rId3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audio" Target="../media/media1.wav"/><Relationship Id="rId3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audio" Target="../media/media1.wav"/><Relationship Id="rId5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wmf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audio" Target="../media/media1.wav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5.png"/><Relationship Id="rId9" Type="http://schemas.openxmlformats.org/officeDocument/2006/relationships/slideLayout" Target="../slideLayouts/slideLayout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audio" Target="../media/media1.wav"/><Relationship Id="rId8" Type="http://schemas.openxmlformats.org/officeDocument/2006/relationships/slideLayout" Target="../slideLayouts/slideLayout2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audio" Target="../media/media1.wav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0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1"/>
            <a:ext cx="9143999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591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457200"/>
            <a:ext cx="5623560" cy="9499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592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638175"/>
            <a:ext cx="5623962" cy="5752390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593" name="Title 1"/>
          <p:cNvSpPr>
            <a:spLocks noGrp="1"/>
          </p:cNvSpPr>
          <p:nvPr>
            <p:ph type="ctrTitle"/>
          </p:nvPr>
        </p:nvSpPr>
        <p:spPr>
          <a:xfrm>
            <a:off x="584194" y="3435929"/>
            <a:ext cx="5098956" cy="915834"/>
          </a:xfrm>
        </p:spPr>
        <p:txBody>
          <a:bodyPr>
            <a:normAutofit/>
          </a:bodyPr>
          <a:p>
            <a:pPr algn="ctr"/>
            <a:r>
              <a:rPr dirty="0" lang="en-US">
                <a:solidFill>
                  <a:srgbClr val="FFFFFF"/>
                </a:solidFill>
              </a:rPr>
              <a:t>Data Security</a:t>
            </a:r>
          </a:p>
        </p:txBody>
      </p:sp>
      <p:sp>
        <p:nvSpPr>
          <p:cNvPr id="1048594" name="Subtitle 2"/>
          <p:cNvSpPr>
            <a:spLocks noGrp="1"/>
          </p:cNvSpPr>
          <p:nvPr>
            <p:ph type="subTitle" idx="1"/>
          </p:nvPr>
        </p:nvSpPr>
        <p:spPr>
          <a:xfrm>
            <a:off x="584194" y="4486170"/>
            <a:ext cx="5098956" cy="1733655"/>
          </a:xfrm>
        </p:spPr>
        <p:txBody>
          <a:bodyPr>
            <a:normAutofit/>
          </a:bodyPr>
          <a:p>
            <a:pPr algn="ctr"/>
            <a:r>
              <a:rPr b="1" dirty="0" sz="1800" lang="en-US">
                <a:solidFill>
                  <a:srgbClr val="FFFFFF">
                    <a:alpha val="75000"/>
                  </a:srgbClr>
                </a:solidFill>
              </a:rPr>
              <a:t>Authorization</a:t>
            </a:r>
          </a:p>
        </p:txBody>
      </p:sp>
      <p:pic>
        <p:nvPicPr>
          <p:cNvPr id="2097152" name="Picture 6" descr="A picture containing text, clipart  Description automatically generated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1910" y="544663"/>
            <a:ext cx="1982651" cy="2629767"/>
          </a:xfrm>
          <a:prstGeom prst="rect"/>
        </p:spPr>
      </p:pic>
      <p:pic>
        <p:nvPicPr>
          <p:cNvPr id="2097153" name="Picture 2" descr="Finnish government strengthens country's IT network security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353657" y="654919"/>
            <a:ext cx="5604803" cy="1807754"/>
          </a:xfrm>
          <a:prstGeom prst="rect"/>
          <a:noFill/>
        </p:spPr>
      </p:pic>
      <p:pic>
        <p:nvPicPr>
          <p:cNvPr id="2097154" name="Picture 2" descr="BIS Faculty of Commerce - Assiut University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 bwMode="auto">
          <a:xfrm>
            <a:off x="6309002" y="3668299"/>
            <a:ext cx="2143125" cy="2143125"/>
          </a:xfrm>
          <a:prstGeom prst="rect"/>
          <a:noFill/>
        </p:spPr>
      </p:pic>
    </p:spTree>
  </p:cSld>
  <p:clrMapOvr>
    <a:masterClrMapping/>
  </p:clrMapOvr>
  <p:transition spd="slow">
    <p:sndAc>
      <p:stSnd>
        <p:snd r:embed="rId4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0"/>
            <a:ext cx="8077200" cy="2438400"/>
          </a:xfrm>
        </p:spPr>
        <p:txBody>
          <a:bodyPr/>
          <a:p>
            <a:pPr eaLnBrk="1" hangingPunct="1"/>
            <a:r>
              <a:rPr altLang="en-US" dirty="0" lang="en-US"/>
              <a:t>Access Control - Authorization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dirty="0" lang="en-US"/>
              <a:t>Gentle Reminder  </a:t>
            </a:r>
            <a:r>
              <a:rPr altLang="en-US" dirty="0" lang="en-US">
                <a:sym typeface="Wingdings" panose="05000000000000000000" pitchFamily="2" charset="2"/>
              </a:rPr>
              <a:t> </a:t>
            </a:r>
            <a:r>
              <a:rPr altLang="en-US" dirty="0" lang="en-US"/>
              <a:t>Access Control</a:t>
            </a:r>
          </a:p>
        </p:txBody>
      </p:sp>
      <p:sp>
        <p:nvSpPr>
          <p:cNvPr id="10486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0000" lnSpcReduction="10000"/>
          </a:bodyPr>
          <a:p>
            <a:pPr eaLnBrk="1" hangingPunct="1">
              <a:lnSpc>
                <a:spcPct val="90000"/>
              </a:lnSpc>
            </a:pPr>
            <a:r>
              <a:rPr altLang="en-US" sz="2400" lang="en-US"/>
              <a:t>Two parts to access control</a:t>
            </a:r>
            <a:endParaRPr altLang="en-US" b="1" sz="2400" lang="en-US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altLang="en-US" b="1" sz="2400" lang="en-US">
                <a:solidFill>
                  <a:schemeClr val="accent2"/>
                </a:solidFill>
              </a:rPr>
              <a:t>Authentication: </a:t>
            </a:r>
            <a:r>
              <a:rPr altLang="en-US" b="1" sz="2400" lang="en-US"/>
              <a:t>Who goes there?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sz="2000" lang="en-US"/>
              <a:t>Determine whether access is allowed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sz="2000" lang="en-US"/>
              <a:t>Authenticate human to machine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sz="2000" lang="en-US"/>
              <a:t>Authenticate machine to machine</a:t>
            </a:r>
          </a:p>
          <a:p>
            <a:pPr eaLnBrk="1" hangingPunct="1">
              <a:lnSpc>
                <a:spcPct val="90000"/>
              </a:lnSpc>
            </a:pPr>
            <a:r>
              <a:rPr altLang="en-US" b="1" sz="2400" lang="en-US">
                <a:solidFill>
                  <a:schemeClr val="accent2"/>
                </a:solidFill>
              </a:rPr>
              <a:t>Authorization: </a:t>
            </a:r>
            <a:r>
              <a:rPr altLang="en-US" b="1" sz="2400" lang="en-US"/>
              <a:t>Are you allowed to do that</a:t>
            </a:r>
            <a:r>
              <a:rPr altLang="en-US" sz="2400" lang="en-US"/>
              <a:t>?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sz="2000" lang="en-US"/>
              <a:t>Once you have access, what can you do?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sz="2000" lang="en-US"/>
              <a:t>Enforces limits on actions</a:t>
            </a:r>
          </a:p>
          <a:p>
            <a:pPr eaLnBrk="1" hangingPunct="1">
              <a:lnSpc>
                <a:spcPct val="90000"/>
              </a:lnSpc>
            </a:pPr>
            <a:r>
              <a:rPr altLang="en-US" b="1" sz="2400" lang="en-US"/>
              <a:t>Note</a:t>
            </a:r>
            <a:r>
              <a:rPr altLang="en-US" sz="2400" lang="en-US"/>
              <a:t>: Access control often used as synonym for authorization, but the right is both.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848600" cy="14478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lang="en-US"/>
              <a:t>Authentication vs Authorization </a:t>
            </a:r>
          </a:p>
        </p:txBody>
      </p:sp>
      <p:sp>
        <p:nvSpPr>
          <p:cNvPr id="1048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077200" cy="4191000"/>
          </a:xfrm>
        </p:spPr>
        <p:txBody>
          <a:bodyPr>
            <a:normAutofit fontScale="95833" lnSpcReduction="10000"/>
          </a:bodyPr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Authentication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Who goes there?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Restrictions on who (or what) can access system</a:t>
            </a:r>
            <a:endParaRPr altLang="en-US" b="1" dirty="0" sz="2400" lang="en-US"/>
          </a:p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accent2"/>
                </a:solidFill>
              </a:rPr>
              <a:t>Authorization</a:t>
            </a:r>
            <a:r>
              <a:rPr altLang="en-US" dirty="0" sz="2800" lang="en-US"/>
              <a:t>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Are you allowed to do that?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Restrictions on actions of authenticated users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Authorization is a form of </a:t>
            </a:r>
            <a:r>
              <a:rPr altLang="en-US" b="1" dirty="0" sz="2800" lang="en-US">
                <a:solidFill>
                  <a:schemeClr val="accent2"/>
                </a:solidFill>
              </a:rPr>
              <a:t>access control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Authorization enforced by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Access control Matrix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Access Control Lists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Capabilities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"/>
                                        <p:tgtEl>
                                          <p:spTgt spid="1048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8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0"/>
                                        <p:tgtEl>
                                          <p:spTgt spid="1048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5"/>
                                        <p:tgtEl>
                                          <p:spTgt spid="1048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6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8"/>
                                        <p:tgtEl>
                                          <p:spTgt spid="1048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 nodeType="clickPar">
                      <p:stCondLst>
                        <p:cond delay="indefinite"/>
                      </p:stCondLst>
                      <p:childTnLst>
                        <p:par>
                          <p:cTn fill="hold" id="20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1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3"/>
                                        <p:tgtEl>
                                          <p:spTgt spid="1048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4" nodeType="clickPar">
                      <p:stCondLst>
                        <p:cond delay="indefinite"/>
                      </p:stCondLst>
                      <p:childTnLst>
                        <p:par>
                          <p:cTn fill="hold" id="25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6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8"/>
                                        <p:tgtEl>
                                          <p:spTgt spid="1048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9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1"/>
                                        <p:tgtEl>
                                          <p:spTgt spid="1048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2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4"/>
                                        <p:tgtEl>
                                          <p:spTgt spid="1048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5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7"/>
                                        <p:tgtEl>
                                          <p:spTgt spid="1048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4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702574"/>
          </a:xfrm>
        </p:spPr>
        <p:txBody>
          <a:bodyPr/>
          <a:p>
            <a:r>
              <a:rPr dirty="0" lang="en-US"/>
              <a:t>Access control Matrix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435895" y="2099011"/>
            <a:ext cx="8272211" cy="2512745"/>
          </a:xfrm>
        </p:spPr>
        <p:txBody>
          <a:bodyPr>
            <a:normAutofit/>
          </a:bodyPr>
          <a:p>
            <a:r>
              <a:rPr b="0" dirty="0" sz="2300" i="0" lang="en-US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matrix contains all the relevant information needed by an</a:t>
            </a:r>
            <a:br>
              <a:rPr b="0" dirty="0" sz="2300" i="0" lang="en-US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b="0" dirty="0" sz="2300" i="0" lang="en-US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operating system to make decisions about which users are allowed to do what with the various system </a:t>
            </a:r>
            <a:r>
              <a:rPr dirty="0" sz="2200" lang="en-US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resources.</a:t>
            </a:r>
          </a:p>
          <a:p>
            <a:r>
              <a:rPr dirty="0" sz="2200" lang="en-US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UNIX-style notation, that is, x, r, and w stand for execute, read, and write privileges, respectively.  </a:t>
            </a:r>
          </a:p>
        </p:txBody>
      </p:sp>
      <p:graphicFrame>
        <p:nvGraphicFramePr>
          <p:cNvPr id="4194304" name="Table 4"/>
          <p:cNvGraphicFramePr>
            <a:graphicFrameLocks noGrp="1"/>
          </p:cNvGraphicFramePr>
          <p:nvPr/>
        </p:nvGraphicFramePr>
        <p:xfrm>
          <a:off x="1524000" y="4825647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p>
                      <a:endParaRPr dirty="0" lang="en-US"/>
                    </a:p>
                  </a:txBody>
                </a:tc>
                <a:tc gridSpan="4">
                  <a:txBody>
                    <a:bodyPr/>
                    <a:p>
                      <a:pPr algn="ctr"/>
                      <a:r>
                        <a:rPr b="0" dirty="0" sz="1800" lang="en-US">
                          <a:solidFill>
                            <a:srgbClr val="FF0000"/>
                          </a:solidFill>
                        </a:rPr>
                        <a:t>Objects</a:t>
                      </a:r>
                    </a:p>
                  </a:txBody>
                </a:tc>
                <a:tc hMerge="1">
                  <a:txBody>
                    <a:bodyPr/>
                    <a:p>
                      <a:endParaRPr dirty="0" lang="en-US"/>
                    </a:p>
                  </a:txBody>
                </a:tc>
                <a:tc hMerge="1">
                  <a:txBody>
                    <a:bodyPr/>
                    <a:p>
                      <a:endParaRPr dirty="0" lang="en-US"/>
                    </a:p>
                  </a:txBody>
                </a:tc>
                <a:tc hMerge="1"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 rowSpan="4">
                  <a:txBody>
                    <a:bodyPr/>
                    <a:p>
                      <a:pPr algn="ctr"/>
                      <a:r>
                        <a:rPr dirty="0" sz="1800" lang="en-US">
                          <a:solidFill>
                            <a:srgbClr val="FF0000"/>
                          </a:solidFill>
                        </a:rPr>
                        <a:t>Subjects</a:t>
                      </a:r>
                      <a:endParaRPr dirty="0" sz="1600" 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</a:tr>
              <a:tr h="370840">
                <a:tc vMerge="1"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 vMerge="1"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 vMerge="1"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p:transition spd="slow">
    <p:sndAc>
      <p:stSnd>
        <p:snd r:embed="rId1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47700"/>
            <a:ext cx="8610600" cy="419100"/>
          </a:xfrm>
        </p:spPr>
        <p:txBody>
          <a:bodyPr>
            <a:normAutofit fontScale="90000"/>
          </a:bodyPr>
          <a:p>
            <a:pPr eaLnBrk="1" hangingPunct="1"/>
            <a:r>
              <a:rPr altLang="en-US" dirty="0" sz="2800" lang="en-US"/>
              <a:t>Lampson’s Access Control Matrix</a:t>
            </a:r>
            <a:endParaRPr altLang="en-US" dirty="0" sz="1600" lang="en-US"/>
          </a:p>
        </p:txBody>
      </p:sp>
      <p:graphicFrame>
        <p:nvGraphicFramePr>
          <p:cNvPr id="4194305" name="Group 47"/>
          <p:cNvGraphicFramePr>
            <a:graphicFrameLocks noGrp="1"/>
          </p:cNvGraphicFramePr>
          <p:nvPr/>
        </p:nvGraphicFramePr>
        <p:xfrm>
          <a:off x="1600200" y="2971800"/>
          <a:ext cx="6324600" cy="3200400"/>
        </p:xfrm>
        <a:graphic>
          <a:graphicData uri="http://schemas.openxmlformats.org/drawingml/2006/table">
            <a:tbl>
              <a:tblPr/>
              <a:tblGrid>
                <a:gridCol w="1265238"/>
                <a:gridCol w="1265237"/>
                <a:gridCol w="1263650"/>
                <a:gridCol w="1265238"/>
                <a:gridCol w="1265237"/>
              </a:tblGrid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---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---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err="1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  <a:endParaRPr baseline="0" b="0" cap="none" dirty="0" sz="2800" i="0" kumimoji="0" lang="en-US" normalizeH="0" strike="noStrike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608" name="Rectangle 38"/>
          <p:cNvSpPr>
            <a:spLocks noChangeArrowheads="1"/>
          </p:cNvSpPr>
          <p:nvPr/>
        </p:nvSpPr>
        <p:spPr bwMode="auto">
          <a:xfrm>
            <a:off x="1905000" y="2454275"/>
            <a:ext cx="576580" cy="4470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OS</a:t>
            </a:r>
          </a:p>
        </p:txBody>
      </p:sp>
      <p:sp>
        <p:nvSpPr>
          <p:cNvPr id="1048609" name="Rectangle 39"/>
          <p:cNvSpPr>
            <a:spLocks noChangeArrowheads="1"/>
          </p:cNvSpPr>
          <p:nvPr/>
        </p:nvSpPr>
        <p:spPr bwMode="auto">
          <a:xfrm>
            <a:off x="2819400" y="2209800"/>
            <a:ext cx="1325880" cy="6248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Accounting</a:t>
            </a:r>
          </a:p>
          <a:p>
            <a:pPr algn="ctr" eaLnBrk="1" hangingPunct="1"/>
            <a:r>
              <a:rPr altLang="en-US" sz="1800" lang="en-US"/>
              <a:t>program</a:t>
            </a:r>
          </a:p>
        </p:txBody>
      </p:sp>
      <p:sp>
        <p:nvSpPr>
          <p:cNvPr id="1048610" name="Rectangle 40"/>
          <p:cNvSpPr>
            <a:spLocks noChangeArrowheads="1"/>
          </p:cNvSpPr>
          <p:nvPr/>
        </p:nvSpPr>
        <p:spPr bwMode="auto">
          <a:xfrm>
            <a:off x="4205288" y="2241550"/>
            <a:ext cx="1325880" cy="6248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dirty="0" sz="1800" lang="en-US"/>
              <a:t>Accounting</a:t>
            </a:r>
          </a:p>
          <a:p>
            <a:pPr algn="ctr" eaLnBrk="1" hangingPunct="1"/>
            <a:r>
              <a:rPr altLang="en-US" dirty="0" sz="1800" lang="en-US"/>
              <a:t>data</a:t>
            </a:r>
          </a:p>
        </p:txBody>
      </p:sp>
      <p:sp>
        <p:nvSpPr>
          <p:cNvPr id="1048611" name="Rectangle 41"/>
          <p:cNvSpPr>
            <a:spLocks noChangeArrowheads="1"/>
          </p:cNvSpPr>
          <p:nvPr/>
        </p:nvSpPr>
        <p:spPr bwMode="auto">
          <a:xfrm>
            <a:off x="5562600" y="2209800"/>
            <a:ext cx="1186180" cy="6248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Insurance</a:t>
            </a:r>
          </a:p>
          <a:p>
            <a:pPr algn="ctr" eaLnBrk="1" hangingPunct="1"/>
            <a:r>
              <a:rPr altLang="en-US" sz="1800" lang="en-US"/>
              <a:t>data</a:t>
            </a:r>
          </a:p>
        </p:txBody>
      </p:sp>
      <p:sp>
        <p:nvSpPr>
          <p:cNvPr id="1048612" name="Rectangle 42"/>
          <p:cNvSpPr>
            <a:spLocks noChangeArrowheads="1"/>
          </p:cNvSpPr>
          <p:nvPr/>
        </p:nvSpPr>
        <p:spPr bwMode="auto">
          <a:xfrm>
            <a:off x="6878638" y="2241550"/>
            <a:ext cx="868681" cy="6248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Payroll</a:t>
            </a:r>
          </a:p>
          <a:p>
            <a:pPr algn="ctr" eaLnBrk="1" hangingPunct="1"/>
            <a:r>
              <a:rPr altLang="en-US" sz="1800" lang="en-US"/>
              <a:t>data</a:t>
            </a:r>
          </a:p>
        </p:txBody>
      </p:sp>
      <p:sp>
        <p:nvSpPr>
          <p:cNvPr id="1048613" name="Rectangle 43"/>
          <p:cNvSpPr>
            <a:spLocks noChangeArrowheads="1"/>
          </p:cNvSpPr>
          <p:nvPr/>
        </p:nvSpPr>
        <p:spPr bwMode="auto">
          <a:xfrm>
            <a:off x="882650" y="3140075"/>
            <a:ext cx="716280" cy="4470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Bob</a:t>
            </a:r>
          </a:p>
        </p:txBody>
      </p:sp>
      <p:sp>
        <p:nvSpPr>
          <p:cNvPr id="1048614" name="Rectangle 44"/>
          <p:cNvSpPr>
            <a:spLocks noChangeArrowheads="1"/>
          </p:cNvSpPr>
          <p:nvPr/>
        </p:nvSpPr>
        <p:spPr bwMode="auto">
          <a:xfrm>
            <a:off x="700088" y="3902075"/>
            <a:ext cx="868680" cy="4470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Alice</a:t>
            </a:r>
          </a:p>
        </p:txBody>
      </p:sp>
      <p:sp>
        <p:nvSpPr>
          <p:cNvPr id="1048615" name="Rectangle 45"/>
          <p:cNvSpPr>
            <a:spLocks noChangeArrowheads="1"/>
          </p:cNvSpPr>
          <p:nvPr/>
        </p:nvSpPr>
        <p:spPr bwMode="auto">
          <a:xfrm>
            <a:off x="735013" y="4740275"/>
            <a:ext cx="792480" cy="4470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Sam</a:t>
            </a:r>
          </a:p>
        </p:txBody>
      </p:sp>
      <p:sp>
        <p:nvSpPr>
          <p:cNvPr id="1048616" name="Rectangle 46"/>
          <p:cNvSpPr>
            <a:spLocks noChangeArrowheads="1"/>
          </p:cNvSpPr>
          <p:nvPr/>
        </p:nvSpPr>
        <p:spPr bwMode="auto">
          <a:xfrm>
            <a:off x="76200" y="5410200"/>
            <a:ext cx="1452880" cy="7010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/>
            <a:r>
              <a:rPr altLang="en-US" sz="2000" lang="en-US"/>
              <a:t>Accounting</a:t>
            </a:r>
          </a:p>
          <a:p>
            <a:pPr algn="r" eaLnBrk="1" hangingPunct="1"/>
            <a:r>
              <a:rPr altLang="en-US" sz="2000" lang="en-US"/>
              <a:t>program</a:t>
            </a:r>
          </a:p>
        </p:txBody>
      </p:sp>
      <p:sp>
        <p:nvSpPr>
          <p:cNvPr id="1048617" name="Rectangle 48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01000" cy="990600"/>
          </a:xfrm>
          <a:noFill/>
        </p:spPr>
        <p:txBody>
          <a:bodyPr>
            <a:normAutofit lnSpcReduction="10000"/>
          </a:bodyPr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accent2"/>
                </a:solidFill>
              </a:rPr>
              <a:t>Subjects</a:t>
            </a:r>
            <a:r>
              <a:rPr altLang="en-US" dirty="0" sz="2800" lang="en-US"/>
              <a:t> (</a:t>
            </a:r>
            <a:r>
              <a:rPr altLang="en-US" dirty="0" sz="2800" lang="en-US">
                <a:highlight>
                  <a:srgbClr val="FFFF00"/>
                </a:highlight>
              </a:rPr>
              <a:t>users</a:t>
            </a:r>
            <a:r>
              <a:rPr altLang="en-US" dirty="0" sz="2800" lang="en-US"/>
              <a:t>) index the rows</a:t>
            </a:r>
          </a:p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accent2"/>
                </a:solidFill>
              </a:rPr>
              <a:t>Objects</a:t>
            </a:r>
            <a:r>
              <a:rPr altLang="en-US" dirty="0" sz="2800" lang="en-US"/>
              <a:t> (</a:t>
            </a:r>
            <a:r>
              <a:rPr altLang="en-US" dirty="0" sz="2800" lang="en-US">
                <a:highlight>
                  <a:srgbClr val="FFFF00"/>
                </a:highlight>
              </a:rPr>
              <a:t>resources</a:t>
            </a:r>
            <a:r>
              <a:rPr altLang="en-US" dirty="0" sz="2800" lang="en-US"/>
              <a:t>) index the columns</a:t>
            </a:r>
            <a:r>
              <a:rPr altLang="en-US" dirty="0" sz="2400" lang="en-US"/>
              <a:t> </a:t>
            </a:r>
            <a:endParaRPr altLang="en-US" dirty="0" sz="2400"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dur="500" id="7"/>
                                        <p:tgtEl>
                                          <p:spTgt spid="1048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dur="500" id="12"/>
                                        <p:tgtEl>
                                          <p:spTgt spid="1048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504" y="762000"/>
            <a:ext cx="8355495" cy="762000"/>
          </a:xfrm>
        </p:spPr>
        <p:txBody>
          <a:bodyPr>
            <a:normAutofit/>
          </a:bodyPr>
          <a:p>
            <a:pPr eaLnBrk="1" hangingPunct="1"/>
            <a:r>
              <a:rPr altLang="en-US" dirty="0" sz="2400" lang="en-US"/>
              <a:t>Are You Allowed to Do That? </a:t>
            </a:r>
          </a:p>
        </p:txBody>
      </p:sp>
      <p:sp>
        <p:nvSpPr>
          <p:cNvPr id="1048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43434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accent2"/>
                </a:solidFill>
              </a:rPr>
              <a:t>Access control matrix</a:t>
            </a:r>
            <a:r>
              <a:rPr altLang="en-US" dirty="0" sz="2800" lang="en-US"/>
              <a:t> has all relevant info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But how to manage a large access control (AC) matrix?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Could be 1000’s of users, 1000’s of resources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Then AC matrix with 1,000,000’s of entries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Need to check this matrix before access to any resource is allowed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Hopelessly inefficient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848600" cy="685800"/>
          </a:xfrm>
        </p:spPr>
        <p:txBody>
          <a:bodyPr/>
          <a:p>
            <a:pPr eaLnBrk="1" hangingPunct="1"/>
            <a:r>
              <a:rPr altLang="en-US" lang="en-US"/>
              <a:t>Access Control Lists (ACLs)</a:t>
            </a:r>
          </a:p>
        </p:txBody>
      </p:sp>
      <p:sp>
        <p:nvSpPr>
          <p:cNvPr id="10486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848600" cy="1143000"/>
          </a:xfrm>
        </p:spPr>
        <p:txBody>
          <a:bodyPr>
            <a:normAutofit fontScale="80583" lnSpcReduction="20000"/>
          </a:bodyPr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ACL: store access control matrix by </a:t>
            </a:r>
            <a:r>
              <a:rPr altLang="en-US" b="1" dirty="0" sz="2800" lang="en-US">
                <a:solidFill>
                  <a:srgbClr val="0070C0"/>
                </a:solidFill>
              </a:rPr>
              <a:t>column</a:t>
            </a:r>
          </a:p>
          <a:p>
            <a:pPr lvl="1">
              <a:lnSpc>
                <a:spcPct val="90000"/>
              </a:lnSpc>
            </a:pPr>
            <a:r>
              <a:rPr altLang="en-US" dirty="0" sz="2575" lang="en-US"/>
              <a:t>How can do what on this resource (subject).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Example: ACL for </a:t>
            </a:r>
            <a:r>
              <a:rPr altLang="en-US" b="1" dirty="0" sz="2800" lang="en-US">
                <a:solidFill>
                  <a:srgbClr val="0070C0"/>
                </a:solidFill>
              </a:rPr>
              <a:t>insurance data</a:t>
            </a:r>
            <a:r>
              <a:rPr altLang="en-US" dirty="0" sz="2800" lang="en-US">
                <a:solidFill>
                  <a:srgbClr val="0070C0"/>
                </a:solidFill>
              </a:rPr>
              <a:t> </a:t>
            </a:r>
            <a:r>
              <a:rPr altLang="en-US" dirty="0" sz="2800" lang="en-US"/>
              <a:t>is in </a:t>
            </a:r>
            <a:r>
              <a:rPr altLang="en-US" b="1" dirty="0" sz="2800" lang="en-US">
                <a:solidFill>
                  <a:srgbClr val="0070C0"/>
                </a:solidFill>
              </a:rPr>
              <a:t>blue</a:t>
            </a:r>
            <a:endParaRPr altLang="en-US" dirty="0" sz="2800" lang="en-US">
              <a:solidFill>
                <a:srgbClr val="0070C0"/>
              </a:solidFill>
            </a:endParaRPr>
          </a:p>
        </p:txBody>
      </p:sp>
      <p:graphicFrame>
        <p:nvGraphicFramePr>
          <p:cNvPr id="4194306" name="Group 4"/>
          <p:cNvGraphicFramePr>
            <a:graphicFrameLocks noGrp="1"/>
          </p:cNvGraphicFramePr>
          <p:nvPr/>
        </p:nvGraphicFramePr>
        <p:xfrm>
          <a:off x="1600200" y="2895600"/>
          <a:ext cx="6324600" cy="3200400"/>
        </p:xfrm>
        <a:graphic>
          <a:graphicData uri="http://schemas.openxmlformats.org/drawingml/2006/table">
            <a:tbl>
              <a:tblPr/>
              <a:tblGrid>
                <a:gridCol w="1265238"/>
                <a:gridCol w="1265237"/>
                <a:gridCol w="1263650"/>
                <a:gridCol w="1265238"/>
                <a:gridCol w="1265237"/>
              </a:tblGrid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strike="noStrike" u="none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mic Sans MS" pitchFamily="66" charset="0"/>
                        </a:rPr>
                        <a:t>---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---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err="1" strike="noStrike" u="none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  <a:endParaRPr baseline="0" b="0" cap="none" dirty="0" sz="2800" i="0" kumimoji="0" lang="en-US" normalizeH="0" strike="noStrike" u="none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err="1" strike="noStrike" u="none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  <a:endParaRPr baseline="0" b="0" cap="none" dirty="0" sz="2800" i="0" kumimoji="0" lang="en-US" normalizeH="0" strike="noStrike" u="none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err="1" strike="noStrike" u="none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  <a:endParaRPr baseline="0" b="0" cap="none" dirty="0" sz="2800" i="0" kumimoji="0" lang="en-US" normalizeH="0" strike="noStrike" u="none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err="1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  <a:endParaRPr baseline="0" b="0" cap="none" dirty="0" sz="2800" i="0" kumimoji="0" lang="en-US" normalizeH="0" strike="noStrike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622" name="Rectangle 36"/>
          <p:cNvSpPr>
            <a:spLocks noChangeArrowheads="1"/>
          </p:cNvSpPr>
          <p:nvPr/>
        </p:nvSpPr>
        <p:spPr bwMode="auto">
          <a:xfrm>
            <a:off x="1905000" y="2378075"/>
            <a:ext cx="638175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OS</a:t>
            </a:r>
          </a:p>
        </p:txBody>
      </p:sp>
      <p:sp>
        <p:nvSpPr>
          <p:cNvPr id="1048623" name="Rectangle 37"/>
          <p:cNvSpPr>
            <a:spLocks noChangeArrowheads="1"/>
          </p:cNvSpPr>
          <p:nvPr/>
        </p:nvSpPr>
        <p:spPr bwMode="auto">
          <a:xfrm>
            <a:off x="2819400" y="2133600"/>
            <a:ext cx="1357313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Accounting</a:t>
            </a:r>
          </a:p>
          <a:p>
            <a:pPr algn="ctr" eaLnBrk="1" hangingPunct="1"/>
            <a:r>
              <a:rPr altLang="en-US" sz="1800" lang="en-US"/>
              <a:t>program</a:t>
            </a:r>
          </a:p>
        </p:txBody>
      </p:sp>
      <p:sp>
        <p:nvSpPr>
          <p:cNvPr id="1048624" name="Rectangle 38"/>
          <p:cNvSpPr>
            <a:spLocks noChangeArrowheads="1"/>
          </p:cNvSpPr>
          <p:nvPr/>
        </p:nvSpPr>
        <p:spPr bwMode="auto">
          <a:xfrm>
            <a:off x="4205288" y="2165350"/>
            <a:ext cx="1357312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Accounting</a:t>
            </a:r>
          </a:p>
          <a:p>
            <a:pPr algn="ctr" eaLnBrk="1" hangingPunct="1"/>
            <a:r>
              <a:rPr altLang="en-US" sz="1800" lang="en-US"/>
              <a:t>data</a:t>
            </a:r>
          </a:p>
        </p:txBody>
      </p:sp>
      <p:sp>
        <p:nvSpPr>
          <p:cNvPr id="1048625" name="Rectangle 39"/>
          <p:cNvSpPr>
            <a:spLocks noChangeArrowheads="1"/>
          </p:cNvSpPr>
          <p:nvPr/>
        </p:nvSpPr>
        <p:spPr bwMode="auto">
          <a:xfrm>
            <a:off x="5557087" y="2133600"/>
            <a:ext cx="1271502" cy="646331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b="1" dirty="0" sz="1800" lang="en-US">
                <a:solidFill>
                  <a:srgbClr val="0070C0"/>
                </a:solidFill>
              </a:rPr>
              <a:t>Insurance</a:t>
            </a:r>
          </a:p>
          <a:p>
            <a:pPr algn="ctr" eaLnBrk="1" hangingPunct="1"/>
            <a:r>
              <a:rPr altLang="en-US" b="1" dirty="0" sz="1800" lang="en-US">
                <a:solidFill>
                  <a:srgbClr val="0070C0"/>
                </a:solidFill>
              </a:rPr>
              <a:t>data</a:t>
            </a:r>
          </a:p>
        </p:txBody>
      </p:sp>
      <p:sp>
        <p:nvSpPr>
          <p:cNvPr id="1048626" name="Rectangle 40"/>
          <p:cNvSpPr>
            <a:spLocks noChangeArrowheads="1"/>
          </p:cNvSpPr>
          <p:nvPr/>
        </p:nvSpPr>
        <p:spPr bwMode="auto">
          <a:xfrm>
            <a:off x="6878638" y="2165350"/>
            <a:ext cx="893762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Payroll</a:t>
            </a:r>
          </a:p>
          <a:p>
            <a:pPr algn="ctr" eaLnBrk="1" hangingPunct="1"/>
            <a:r>
              <a:rPr altLang="en-US" sz="1800" lang="en-US"/>
              <a:t>data</a:t>
            </a:r>
          </a:p>
        </p:txBody>
      </p:sp>
      <p:sp>
        <p:nvSpPr>
          <p:cNvPr id="1048627" name="Rectangle 41"/>
          <p:cNvSpPr>
            <a:spLocks noChangeArrowheads="1"/>
          </p:cNvSpPr>
          <p:nvPr/>
        </p:nvSpPr>
        <p:spPr bwMode="auto">
          <a:xfrm>
            <a:off x="882650" y="3063875"/>
            <a:ext cx="717550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Bob</a:t>
            </a:r>
          </a:p>
        </p:txBody>
      </p:sp>
      <p:sp>
        <p:nvSpPr>
          <p:cNvPr id="1048628" name="Rectangle 42"/>
          <p:cNvSpPr>
            <a:spLocks noChangeArrowheads="1"/>
          </p:cNvSpPr>
          <p:nvPr/>
        </p:nvSpPr>
        <p:spPr bwMode="auto">
          <a:xfrm>
            <a:off x="700088" y="3825875"/>
            <a:ext cx="900112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Alice</a:t>
            </a:r>
            <a:endParaRPr altLang="en-US" lang="en-US">
              <a:solidFill>
                <a:srgbClr val="FF0000"/>
              </a:solidFill>
            </a:endParaRPr>
          </a:p>
        </p:txBody>
      </p:sp>
      <p:sp>
        <p:nvSpPr>
          <p:cNvPr id="1048629" name="Rectangle 43"/>
          <p:cNvSpPr>
            <a:spLocks noChangeArrowheads="1"/>
          </p:cNvSpPr>
          <p:nvPr/>
        </p:nvSpPr>
        <p:spPr bwMode="auto">
          <a:xfrm>
            <a:off x="735013" y="4664075"/>
            <a:ext cx="788987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Sam</a:t>
            </a:r>
          </a:p>
        </p:txBody>
      </p:sp>
      <p:sp>
        <p:nvSpPr>
          <p:cNvPr id="1048630" name="Rectangle 45"/>
          <p:cNvSpPr>
            <a:spLocks noChangeArrowheads="1"/>
          </p:cNvSpPr>
          <p:nvPr/>
        </p:nvSpPr>
        <p:spPr bwMode="auto">
          <a:xfrm>
            <a:off x="0" y="5295900"/>
            <a:ext cx="1487488" cy="80010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/>
            <a:r>
              <a:rPr altLang="en-US" sz="2000" lang="en-US"/>
              <a:t>Accounting</a:t>
            </a:r>
          </a:p>
          <a:p>
            <a:pPr algn="r" eaLnBrk="1" hangingPunct="1"/>
            <a:r>
              <a:rPr altLang="en-US" sz="2000" lang="en-US"/>
              <a:t>program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dur="500" id="7"/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8" nodeType="withEffect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dur="500" id="10"/>
                                        <p:tgtEl>
                                          <p:spTgt spid="1048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dur="500" id="15"/>
                                        <p:tgtEl>
                                          <p:spTgt spid="1048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id="17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9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20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23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5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26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8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29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32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4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fill="hold" grpId="0" id="35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7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fill="hold" grpId="0" id="38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0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fill="hold" grpId="0" id="41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3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fill="hold" grpId="0" id="44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5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1" grpId="0" build="p" autoUpdateAnimBg="0"/>
      <p:bldP spid="1048622" grpId="0" autoUpdateAnimBg="0"/>
      <p:bldP spid="1048623" grpId="0" autoUpdateAnimBg="0"/>
      <p:bldP spid="1048624" grpId="0" autoUpdateAnimBg="0"/>
      <p:bldP spid="1048625" grpId="0" autoUpdateAnimBg="0"/>
      <p:bldP spid="1048626" grpId="0" autoUpdateAnimBg="0"/>
      <p:bldP spid="1048627" grpId="0" autoUpdateAnimBg="0"/>
      <p:bldP spid="1048628" grpId="0" autoUpdateAnimBg="0"/>
      <p:bldP spid="1048629" grpId="0" autoUpdateAnimBg="0"/>
      <p:bldP spid="104863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p>
            <a:pPr eaLnBrk="1" hangingPunct="1"/>
            <a:r>
              <a:rPr altLang="en-US" lang="en-US"/>
              <a:t>Capabilities (or C-Lists)</a:t>
            </a:r>
          </a:p>
        </p:txBody>
      </p:sp>
      <p:sp>
        <p:nvSpPr>
          <p:cNvPr id="10486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1143000"/>
          </a:xfrm>
        </p:spPr>
        <p:txBody>
          <a:bodyPr>
            <a:normAutofit fontScale="80583" lnSpcReduction="20000"/>
          </a:bodyPr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Store access control matrix by </a:t>
            </a:r>
            <a:r>
              <a:rPr altLang="en-US" b="1" dirty="0" sz="2800" lang="en-US">
                <a:solidFill>
                  <a:srgbClr val="FF0000"/>
                </a:solidFill>
              </a:rPr>
              <a:t>row</a:t>
            </a:r>
          </a:p>
          <a:p>
            <a:pPr lvl="1">
              <a:lnSpc>
                <a:spcPct val="90000"/>
              </a:lnSpc>
            </a:pPr>
            <a:r>
              <a:rPr altLang="en-US" dirty="0" sz="2575" lang="en-US"/>
              <a:t>What can a specific user do.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Example: Capability for </a:t>
            </a:r>
            <a:r>
              <a:rPr altLang="en-US" b="1" dirty="0" sz="2800" lang="en-US">
                <a:solidFill>
                  <a:srgbClr val="FF0000"/>
                </a:solidFill>
              </a:rPr>
              <a:t>Alice</a:t>
            </a:r>
            <a:r>
              <a:rPr altLang="en-US" dirty="0" sz="2800" lang="en-US"/>
              <a:t> is in </a:t>
            </a:r>
            <a:r>
              <a:rPr altLang="en-US" b="1" dirty="0" sz="2800" lang="en-US">
                <a:solidFill>
                  <a:srgbClr val="FF0000"/>
                </a:solidFill>
              </a:rPr>
              <a:t>red</a:t>
            </a:r>
            <a:endParaRPr altLang="en-US" dirty="0" sz="2800" lang="en-US"/>
          </a:p>
        </p:txBody>
      </p:sp>
      <p:graphicFrame>
        <p:nvGraphicFramePr>
          <p:cNvPr id="4194307" name="Group 4"/>
          <p:cNvGraphicFramePr>
            <a:graphicFrameLocks noGrp="1"/>
          </p:cNvGraphicFramePr>
          <p:nvPr/>
        </p:nvGraphicFramePr>
        <p:xfrm>
          <a:off x="1600200" y="2895600"/>
          <a:ext cx="6324600" cy="3200400"/>
        </p:xfrm>
        <a:graphic>
          <a:graphicData uri="http://schemas.openxmlformats.org/drawingml/2006/table">
            <a:tbl>
              <a:tblPr/>
              <a:tblGrid>
                <a:gridCol w="1265238"/>
                <a:gridCol w="1265237"/>
                <a:gridCol w="1263650"/>
                <a:gridCol w="1265238"/>
                <a:gridCol w="1265237"/>
              </a:tblGrid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---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---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dirty="0" sz="2800" i="0" kumimoji="0" lang="en-US" normalizeH="0" err="1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  <a:endParaRPr baseline="0" b="0" cap="none" dirty="0" sz="2800" i="0" kumimoji="0" lang="en-US" normalizeH="0" strike="noStrike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633" name="Rectangle 36"/>
          <p:cNvSpPr>
            <a:spLocks noChangeArrowheads="1"/>
          </p:cNvSpPr>
          <p:nvPr/>
        </p:nvSpPr>
        <p:spPr bwMode="auto">
          <a:xfrm>
            <a:off x="1905000" y="2378075"/>
            <a:ext cx="638175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OS</a:t>
            </a:r>
          </a:p>
        </p:txBody>
      </p:sp>
      <p:sp>
        <p:nvSpPr>
          <p:cNvPr id="1048634" name="Rectangle 37"/>
          <p:cNvSpPr>
            <a:spLocks noChangeArrowheads="1"/>
          </p:cNvSpPr>
          <p:nvPr/>
        </p:nvSpPr>
        <p:spPr bwMode="auto">
          <a:xfrm>
            <a:off x="2819400" y="2133600"/>
            <a:ext cx="1357313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Accounting</a:t>
            </a:r>
          </a:p>
          <a:p>
            <a:pPr algn="ctr" eaLnBrk="1" hangingPunct="1"/>
            <a:r>
              <a:rPr altLang="en-US" sz="1800" lang="en-US"/>
              <a:t>program</a:t>
            </a:r>
          </a:p>
        </p:txBody>
      </p:sp>
      <p:sp>
        <p:nvSpPr>
          <p:cNvPr id="1048635" name="Rectangle 38"/>
          <p:cNvSpPr>
            <a:spLocks noChangeArrowheads="1"/>
          </p:cNvSpPr>
          <p:nvPr/>
        </p:nvSpPr>
        <p:spPr bwMode="auto">
          <a:xfrm>
            <a:off x="4205288" y="2165350"/>
            <a:ext cx="1357312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Accounting</a:t>
            </a:r>
          </a:p>
          <a:p>
            <a:pPr algn="ctr" eaLnBrk="1" hangingPunct="1"/>
            <a:r>
              <a:rPr altLang="en-US" sz="1800" lang="en-US"/>
              <a:t>data</a:t>
            </a:r>
          </a:p>
        </p:txBody>
      </p:sp>
      <p:sp>
        <p:nvSpPr>
          <p:cNvPr id="1048636" name="Rectangle 39"/>
          <p:cNvSpPr>
            <a:spLocks noChangeArrowheads="1"/>
          </p:cNvSpPr>
          <p:nvPr/>
        </p:nvSpPr>
        <p:spPr bwMode="auto">
          <a:xfrm>
            <a:off x="5562600" y="2133600"/>
            <a:ext cx="1247775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Insurance</a:t>
            </a:r>
          </a:p>
          <a:p>
            <a:pPr algn="ctr" eaLnBrk="1" hangingPunct="1"/>
            <a:r>
              <a:rPr altLang="en-US" sz="1800" lang="en-US"/>
              <a:t>data</a:t>
            </a:r>
          </a:p>
        </p:txBody>
      </p:sp>
      <p:sp>
        <p:nvSpPr>
          <p:cNvPr id="1048637" name="Rectangle 40"/>
          <p:cNvSpPr>
            <a:spLocks noChangeArrowheads="1"/>
          </p:cNvSpPr>
          <p:nvPr/>
        </p:nvSpPr>
        <p:spPr bwMode="auto">
          <a:xfrm>
            <a:off x="6878638" y="2165350"/>
            <a:ext cx="893762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1800" lang="en-US"/>
              <a:t>Payroll</a:t>
            </a:r>
          </a:p>
          <a:p>
            <a:pPr algn="ctr" eaLnBrk="1" hangingPunct="1"/>
            <a:r>
              <a:rPr altLang="en-US" sz="1800" lang="en-US"/>
              <a:t>data</a:t>
            </a:r>
          </a:p>
        </p:txBody>
      </p:sp>
      <p:sp>
        <p:nvSpPr>
          <p:cNvPr id="1048638" name="Rectangle 41"/>
          <p:cNvSpPr>
            <a:spLocks noChangeArrowheads="1"/>
          </p:cNvSpPr>
          <p:nvPr/>
        </p:nvSpPr>
        <p:spPr bwMode="auto">
          <a:xfrm>
            <a:off x="882650" y="3063875"/>
            <a:ext cx="717550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Bob</a:t>
            </a:r>
          </a:p>
        </p:txBody>
      </p:sp>
      <p:sp>
        <p:nvSpPr>
          <p:cNvPr id="1048639" name="Rectangle 42"/>
          <p:cNvSpPr>
            <a:spLocks noChangeArrowheads="1"/>
          </p:cNvSpPr>
          <p:nvPr/>
        </p:nvSpPr>
        <p:spPr bwMode="auto">
          <a:xfrm>
            <a:off x="620713" y="3825875"/>
            <a:ext cx="903287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b="1" lang="en-US">
                <a:solidFill>
                  <a:srgbClr val="FF0000"/>
                </a:solidFill>
              </a:rPr>
              <a:t>Alice</a:t>
            </a:r>
            <a:endParaRPr altLang="en-US" lang="en-US">
              <a:solidFill>
                <a:srgbClr val="FF0000"/>
              </a:solidFill>
            </a:endParaRPr>
          </a:p>
        </p:txBody>
      </p:sp>
      <p:sp>
        <p:nvSpPr>
          <p:cNvPr id="1048640" name="Rectangle 43"/>
          <p:cNvSpPr>
            <a:spLocks noChangeArrowheads="1"/>
          </p:cNvSpPr>
          <p:nvPr/>
        </p:nvSpPr>
        <p:spPr bwMode="auto">
          <a:xfrm>
            <a:off x="735013" y="4664075"/>
            <a:ext cx="788987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Sam</a:t>
            </a:r>
          </a:p>
        </p:txBody>
      </p:sp>
      <p:sp>
        <p:nvSpPr>
          <p:cNvPr id="1048641" name="Rectangle 44"/>
          <p:cNvSpPr>
            <a:spLocks noChangeArrowheads="1"/>
          </p:cNvSpPr>
          <p:nvPr/>
        </p:nvSpPr>
        <p:spPr bwMode="auto">
          <a:xfrm>
            <a:off x="0" y="5295900"/>
            <a:ext cx="1487488" cy="80010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/>
            <a:r>
              <a:rPr altLang="en-US" sz="2000" lang="en-US"/>
              <a:t>Accounting</a:t>
            </a:r>
          </a:p>
          <a:p>
            <a:pPr algn="r" eaLnBrk="1" hangingPunct="1"/>
            <a:r>
              <a:rPr altLang="en-US" sz="2000" lang="en-US"/>
              <a:t>program</a:t>
            </a:r>
          </a:p>
        </p:txBody>
      </p:sp>
      <p:sp>
        <p:nvSpPr>
          <p:cNvPr id="1048642" name="Rectangle: Rounded Corners 1"/>
          <p:cNvSpPr/>
          <p:nvPr/>
        </p:nvSpPr>
        <p:spPr>
          <a:xfrm>
            <a:off x="620713" y="3785176"/>
            <a:ext cx="7498051" cy="609600"/>
          </a:xfrm>
          <a:prstGeom prst="roundRect"/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8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1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3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14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17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9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20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23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5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fill="hold" grpId="0" id="26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8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fill="hold" grpId="0" id="29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fill="hold" grpId="0" id="32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3" grpId="0" autoUpdateAnimBg="0"/>
      <p:bldP spid="1048634" grpId="0" autoUpdateAnimBg="0"/>
      <p:bldP spid="1048635" grpId="0" autoUpdateAnimBg="0"/>
      <p:bldP spid="1048636" grpId="0" autoUpdateAnimBg="0"/>
      <p:bldP spid="1048637" grpId="0" autoUpdateAnimBg="0"/>
      <p:bldP spid="1048638" grpId="0" autoUpdateAnimBg="0"/>
      <p:bldP spid="1048639" grpId="0" autoUpdateAnimBg="0"/>
      <p:bldP spid="1048640" grpId="0" autoUpdateAnimBg="0"/>
      <p:bldP spid="104864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Rectangle 2"/>
          <p:cNvSpPr>
            <a:spLocks noGrp="1" noChangeArrowheads="1"/>
          </p:cNvSpPr>
          <p:nvPr>
            <p:ph type="title"/>
          </p:nvPr>
        </p:nvSpPr>
        <p:spPr>
          <a:xfrm>
            <a:off x="2952750" y="562872"/>
            <a:ext cx="3163888" cy="381000"/>
          </a:xfrm>
        </p:spPr>
        <p:txBody>
          <a:bodyPr>
            <a:normAutofit/>
          </a:bodyPr>
          <a:p>
            <a:pPr algn="ctr" eaLnBrk="1" hangingPunct="1"/>
            <a:r>
              <a:rPr altLang="en-US" lang="en-US"/>
              <a:t>ACLs </a:t>
            </a:r>
            <a:r>
              <a:rPr altLang="en-US" lang="en-US">
                <a:solidFill>
                  <a:schemeClr val="tx1"/>
                </a:solidFill>
              </a:rPr>
              <a:t>vs</a:t>
            </a:r>
            <a:r>
              <a:rPr altLang="en-US" lang="en-US"/>
              <a:t> </a:t>
            </a:r>
            <a:r>
              <a:rPr altLang="en-US" lang="en-US">
                <a:solidFill>
                  <a:srgbClr val="FF0000"/>
                </a:solidFill>
              </a:rPr>
              <a:t>Capabilities</a:t>
            </a:r>
            <a:endParaRPr altLang="en-US" lang="en-US"/>
          </a:p>
        </p:txBody>
      </p:sp>
      <p:sp>
        <p:nvSpPr>
          <p:cNvPr id="1048644" name="Rectangle 5"/>
          <p:cNvSpPr>
            <a:spLocks noChangeArrowheads="1"/>
          </p:cNvSpPr>
          <p:nvPr/>
        </p:nvSpPr>
        <p:spPr bwMode="auto">
          <a:xfrm>
            <a:off x="609600" y="4498975"/>
            <a:ext cx="2949575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Access Control List</a:t>
            </a:r>
          </a:p>
        </p:txBody>
      </p:sp>
      <p:sp>
        <p:nvSpPr>
          <p:cNvPr id="1048645" name="Rectangle 6"/>
          <p:cNvSpPr>
            <a:spLocks noChangeArrowheads="1"/>
          </p:cNvSpPr>
          <p:nvPr/>
        </p:nvSpPr>
        <p:spPr bwMode="auto">
          <a:xfrm>
            <a:off x="6116638" y="4495800"/>
            <a:ext cx="1579562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Capability</a:t>
            </a:r>
          </a:p>
        </p:txBody>
      </p:sp>
      <p:sp>
        <p:nvSpPr>
          <p:cNvPr id="1048646" name="Rectangle 7"/>
          <p:cNvSpPr>
            <a:spLocks noChangeArrowheads="1"/>
          </p:cNvSpPr>
          <p:nvPr/>
        </p:nvSpPr>
        <p:spPr bwMode="auto">
          <a:xfrm>
            <a:off x="533400" y="4495800"/>
            <a:ext cx="3048000" cy="533400"/>
          </a:xfrm>
          <a:prstGeom prst="rect"/>
          <a:noFill/>
          <a:ln w="31750">
            <a:solidFill>
              <a:srgbClr val="1320EE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47" name="Rectangle 8"/>
          <p:cNvSpPr>
            <a:spLocks noChangeArrowheads="1"/>
          </p:cNvSpPr>
          <p:nvPr/>
        </p:nvSpPr>
        <p:spPr bwMode="auto">
          <a:xfrm>
            <a:off x="6019800" y="4495800"/>
            <a:ext cx="1752600" cy="533400"/>
          </a:xfrm>
          <a:prstGeom prst="rect"/>
          <a:noFill/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48" name="Line 9"/>
          <p:cNvSpPr>
            <a:spLocks noChangeShapeType="1"/>
          </p:cNvSpPr>
          <p:nvPr/>
        </p:nvSpPr>
        <p:spPr bwMode="auto">
          <a:xfrm flipV="1">
            <a:off x="1828800" y="4267200"/>
            <a:ext cx="609600" cy="228600"/>
          </a:xfrm>
          <a:prstGeom prst="line"/>
          <a:noFill/>
          <a:ln w="31750">
            <a:solidFill>
              <a:srgbClr val="1320EE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49" name="Line 10"/>
          <p:cNvSpPr>
            <a:spLocks noChangeShapeType="1"/>
          </p:cNvSpPr>
          <p:nvPr/>
        </p:nvSpPr>
        <p:spPr bwMode="auto">
          <a:xfrm flipH="1" flipV="1">
            <a:off x="6400800" y="4267200"/>
            <a:ext cx="533400" cy="228600"/>
          </a:xfrm>
          <a:prstGeom prst="line"/>
          <a:noFill/>
          <a:ln w="317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50" name="Line 11"/>
          <p:cNvSpPr>
            <a:spLocks noChangeShapeType="1"/>
          </p:cNvSpPr>
          <p:nvPr/>
        </p:nvSpPr>
        <p:spPr bwMode="auto">
          <a:xfrm>
            <a:off x="4572000" y="1295400"/>
            <a:ext cx="0" cy="3810000"/>
          </a:xfrm>
          <a:prstGeom prst="line"/>
          <a:noFill/>
          <a:ln w="508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51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685800" y="5257800"/>
            <a:ext cx="7772400" cy="990600"/>
          </a:xfrm>
          <a:noFill/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Note that arrows point in opposite directions!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With ACLs, still need to associate users to files</a:t>
            </a:r>
          </a:p>
        </p:txBody>
      </p:sp>
      <p:sp>
        <p:nvSpPr>
          <p:cNvPr id="1048652" name="Rectangle 13"/>
          <p:cNvSpPr>
            <a:spLocks noChangeArrowheads="1"/>
          </p:cNvSpPr>
          <p:nvPr/>
        </p:nvSpPr>
        <p:spPr bwMode="auto">
          <a:xfrm>
            <a:off x="3101975" y="1524000"/>
            <a:ext cx="708025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file1</a:t>
            </a:r>
          </a:p>
        </p:txBody>
      </p:sp>
      <p:sp>
        <p:nvSpPr>
          <p:cNvPr id="1048653" name="Rectangle 15"/>
          <p:cNvSpPr>
            <a:spLocks noChangeArrowheads="1"/>
          </p:cNvSpPr>
          <p:nvPr/>
        </p:nvSpPr>
        <p:spPr bwMode="auto">
          <a:xfrm>
            <a:off x="3101975" y="2601913"/>
            <a:ext cx="747713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file2</a:t>
            </a:r>
          </a:p>
        </p:txBody>
      </p:sp>
      <p:sp>
        <p:nvSpPr>
          <p:cNvPr id="1048654" name="Rectangle 16"/>
          <p:cNvSpPr>
            <a:spLocks noChangeArrowheads="1"/>
          </p:cNvSpPr>
          <p:nvPr/>
        </p:nvSpPr>
        <p:spPr bwMode="auto">
          <a:xfrm>
            <a:off x="3101975" y="3668713"/>
            <a:ext cx="747713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file3</a:t>
            </a:r>
          </a:p>
        </p:txBody>
      </p:sp>
      <p:sp>
        <p:nvSpPr>
          <p:cNvPr id="1048655" name="Rectangle 19"/>
          <p:cNvSpPr>
            <a:spLocks noChangeArrowheads="1"/>
          </p:cNvSpPr>
          <p:nvPr/>
        </p:nvSpPr>
        <p:spPr bwMode="auto">
          <a:xfrm>
            <a:off x="2971800" y="3505200"/>
            <a:ext cx="990600" cy="762000"/>
          </a:xfrm>
          <a:prstGeom prst="rect"/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56" name="Rectangle 20"/>
          <p:cNvSpPr>
            <a:spLocks noChangeArrowheads="1"/>
          </p:cNvSpPr>
          <p:nvPr/>
        </p:nvSpPr>
        <p:spPr bwMode="auto">
          <a:xfrm>
            <a:off x="2971800" y="2438400"/>
            <a:ext cx="990600" cy="762000"/>
          </a:xfrm>
          <a:prstGeom prst="rect"/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57" name="Rectangle 21"/>
          <p:cNvSpPr>
            <a:spLocks noChangeArrowheads="1"/>
          </p:cNvSpPr>
          <p:nvPr/>
        </p:nvSpPr>
        <p:spPr bwMode="auto">
          <a:xfrm>
            <a:off x="2971800" y="1371600"/>
            <a:ext cx="990600" cy="762000"/>
          </a:xfrm>
          <a:prstGeom prst="rect"/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58" name="Rectangle 22"/>
          <p:cNvSpPr>
            <a:spLocks noChangeArrowheads="1"/>
          </p:cNvSpPr>
          <p:nvPr/>
        </p:nvSpPr>
        <p:spPr bwMode="auto">
          <a:xfrm>
            <a:off x="7521575" y="1524000"/>
            <a:ext cx="708025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file1</a:t>
            </a:r>
          </a:p>
        </p:txBody>
      </p:sp>
      <p:sp>
        <p:nvSpPr>
          <p:cNvPr id="1048659" name="Rectangle 23"/>
          <p:cNvSpPr>
            <a:spLocks noChangeArrowheads="1"/>
          </p:cNvSpPr>
          <p:nvPr/>
        </p:nvSpPr>
        <p:spPr bwMode="auto">
          <a:xfrm>
            <a:off x="7521575" y="2601913"/>
            <a:ext cx="747713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file2</a:t>
            </a:r>
          </a:p>
        </p:txBody>
      </p:sp>
      <p:sp>
        <p:nvSpPr>
          <p:cNvPr id="1048660" name="Rectangle 24"/>
          <p:cNvSpPr>
            <a:spLocks noChangeArrowheads="1"/>
          </p:cNvSpPr>
          <p:nvPr/>
        </p:nvSpPr>
        <p:spPr bwMode="auto">
          <a:xfrm>
            <a:off x="7521575" y="3668713"/>
            <a:ext cx="747713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file3</a:t>
            </a:r>
          </a:p>
        </p:txBody>
      </p:sp>
      <p:sp>
        <p:nvSpPr>
          <p:cNvPr id="1048661" name="Rectangle 25"/>
          <p:cNvSpPr>
            <a:spLocks noChangeArrowheads="1"/>
          </p:cNvSpPr>
          <p:nvPr/>
        </p:nvSpPr>
        <p:spPr bwMode="auto">
          <a:xfrm>
            <a:off x="7391400" y="3505200"/>
            <a:ext cx="990600" cy="762000"/>
          </a:xfrm>
          <a:prstGeom prst="rect"/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62" name="Rectangle 26"/>
          <p:cNvSpPr>
            <a:spLocks noChangeArrowheads="1"/>
          </p:cNvSpPr>
          <p:nvPr/>
        </p:nvSpPr>
        <p:spPr bwMode="auto">
          <a:xfrm>
            <a:off x="7391400" y="2438400"/>
            <a:ext cx="990600" cy="762000"/>
          </a:xfrm>
          <a:prstGeom prst="rect"/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63" name="Rectangle 27"/>
          <p:cNvSpPr>
            <a:spLocks noChangeArrowheads="1"/>
          </p:cNvSpPr>
          <p:nvPr/>
        </p:nvSpPr>
        <p:spPr bwMode="auto">
          <a:xfrm>
            <a:off x="7391400" y="1371600"/>
            <a:ext cx="990600" cy="762000"/>
          </a:xfrm>
          <a:prstGeom prst="rect"/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64" name="AutoShape 29"/>
          <p:cNvSpPr>
            <a:spLocks noChangeArrowheads="1"/>
          </p:cNvSpPr>
          <p:nvPr/>
        </p:nvSpPr>
        <p:spPr bwMode="auto">
          <a:xfrm>
            <a:off x="2362200" y="1278836"/>
            <a:ext cx="457200" cy="7620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65" name="Rectangle 30"/>
          <p:cNvSpPr>
            <a:spLocks noChangeArrowheads="1"/>
          </p:cNvSpPr>
          <p:nvPr/>
        </p:nvSpPr>
        <p:spPr bwMode="auto">
          <a:xfrm>
            <a:off x="2349500" y="1309688"/>
            <a:ext cx="469900" cy="85883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altLang="en-US" sz="1800" lang="en-US"/>
              <a:t>r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---</a:t>
            </a:r>
            <a:endParaRPr altLang="en-US" sz="1800" lang="en-US"/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/>
              <a:t>r</a:t>
            </a:r>
          </a:p>
        </p:txBody>
      </p:sp>
      <p:sp>
        <p:nvSpPr>
          <p:cNvPr id="1048666" name="Rectangle 32"/>
          <p:cNvSpPr>
            <a:spLocks noChangeArrowheads="1"/>
          </p:cNvSpPr>
          <p:nvPr/>
        </p:nvSpPr>
        <p:spPr bwMode="auto">
          <a:xfrm>
            <a:off x="685800" y="1524000"/>
            <a:ext cx="781050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Alice</a:t>
            </a:r>
          </a:p>
        </p:txBody>
      </p:sp>
      <p:sp>
        <p:nvSpPr>
          <p:cNvPr id="1048667" name="Oval 33"/>
          <p:cNvSpPr>
            <a:spLocks noChangeArrowheads="1"/>
          </p:cNvSpPr>
          <p:nvPr/>
        </p:nvSpPr>
        <p:spPr bwMode="auto">
          <a:xfrm>
            <a:off x="685800" y="1371600"/>
            <a:ext cx="762000" cy="762000"/>
          </a:xfrm>
          <a:prstGeom prst="ellipse"/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68" name="Rectangle 34"/>
          <p:cNvSpPr>
            <a:spLocks noChangeArrowheads="1"/>
          </p:cNvSpPr>
          <p:nvPr/>
        </p:nvSpPr>
        <p:spPr bwMode="auto">
          <a:xfrm>
            <a:off x="742950" y="2590800"/>
            <a:ext cx="628650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Bob</a:t>
            </a:r>
          </a:p>
        </p:txBody>
      </p:sp>
      <p:sp>
        <p:nvSpPr>
          <p:cNvPr id="1048669" name="Oval 35"/>
          <p:cNvSpPr>
            <a:spLocks noChangeArrowheads="1"/>
          </p:cNvSpPr>
          <p:nvPr/>
        </p:nvSpPr>
        <p:spPr bwMode="auto">
          <a:xfrm>
            <a:off x="685800" y="2438400"/>
            <a:ext cx="762000" cy="762000"/>
          </a:xfrm>
          <a:prstGeom prst="ellipse"/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70" name="Rectangle 36"/>
          <p:cNvSpPr>
            <a:spLocks noChangeArrowheads="1"/>
          </p:cNvSpPr>
          <p:nvPr/>
        </p:nvSpPr>
        <p:spPr bwMode="auto">
          <a:xfrm>
            <a:off x="685800" y="3657600"/>
            <a:ext cx="749300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Fred</a:t>
            </a:r>
          </a:p>
        </p:txBody>
      </p:sp>
      <p:sp>
        <p:nvSpPr>
          <p:cNvPr id="1048671" name="Oval 37"/>
          <p:cNvSpPr>
            <a:spLocks noChangeArrowheads="1"/>
          </p:cNvSpPr>
          <p:nvPr/>
        </p:nvSpPr>
        <p:spPr bwMode="auto">
          <a:xfrm>
            <a:off x="685800" y="3505200"/>
            <a:ext cx="762000" cy="762000"/>
          </a:xfrm>
          <a:prstGeom prst="ellipse"/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72" name="Rectangle 39"/>
          <p:cNvSpPr>
            <a:spLocks noChangeArrowheads="1"/>
          </p:cNvSpPr>
          <p:nvPr/>
        </p:nvSpPr>
        <p:spPr bwMode="auto">
          <a:xfrm>
            <a:off x="2349500" y="2409825"/>
            <a:ext cx="469900" cy="85883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w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r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---</a:t>
            </a:r>
            <a:endParaRPr altLang="en-US" sz="1800" lang="en-US"/>
          </a:p>
        </p:txBody>
      </p:sp>
      <p:sp>
        <p:nvSpPr>
          <p:cNvPr id="1048673" name="AutoShape 40"/>
          <p:cNvSpPr>
            <a:spLocks noChangeArrowheads="1"/>
          </p:cNvSpPr>
          <p:nvPr/>
        </p:nvSpPr>
        <p:spPr bwMode="auto">
          <a:xfrm>
            <a:off x="2362200" y="3505200"/>
            <a:ext cx="457200" cy="7620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74" name="Rectangle 41"/>
          <p:cNvSpPr>
            <a:spLocks noChangeArrowheads="1"/>
          </p:cNvSpPr>
          <p:nvPr/>
        </p:nvSpPr>
        <p:spPr bwMode="auto">
          <a:xfrm>
            <a:off x="2368550" y="3460750"/>
            <a:ext cx="450850" cy="85883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altLang="en-US" dirty="0" sz="1800" lang="en-US" err="1"/>
              <a:t>rw</a:t>
            </a:r>
            <a:endParaRPr altLang="en-US" dirty="0" sz="1800" lang="en-US"/>
          </a:p>
          <a:p>
            <a:pPr algn="ctr" eaLnBrk="1" hangingPunct="1">
              <a:lnSpc>
                <a:spcPct val="80000"/>
              </a:lnSpc>
            </a:pPr>
            <a:r>
              <a:rPr altLang="en-US" dirty="0" sz="1800" lang="en-US"/>
              <a:t>r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dirty="0" sz="1800" lang="en-US"/>
              <a:t>r</a:t>
            </a:r>
          </a:p>
        </p:txBody>
      </p:sp>
      <p:sp>
        <p:nvSpPr>
          <p:cNvPr id="1048675" name="Rectangle 42"/>
          <p:cNvSpPr>
            <a:spLocks noChangeArrowheads="1"/>
          </p:cNvSpPr>
          <p:nvPr/>
        </p:nvSpPr>
        <p:spPr bwMode="auto">
          <a:xfrm>
            <a:off x="5162550" y="1524000"/>
            <a:ext cx="781050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Alice</a:t>
            </a:r>
          </a:p>
        </p:txBody>
      </p:sp>
      <p:sp>
        <p:nvSpPr>
          <p:cNvPr id="1048676" name="Oval 43"/>
          <p:cNvSpPr>
            <a:spLocks noChangeArrowheads="1"/>
          </p:cNvSpPr>
          <p:nvPr/>
        </p:nvSpPr>
        <p:spPr bwMode="auto">
          <a:xfrm>
            <a:off x="5162550" y="1371600"/>
            <a:ext cx="762000" cy="762000"/>
          </a:xfrm>
          <a:prstGeom prst="ellipse"/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77" name="Rectangle 44"/>
          <p:cNvSpPr>
            <a:spLocks noChangeArrowheads="1"/>
          </p:cNvSpPr>
          <p:nvPr/>
        </p:nvSpPr>
        <p:spPr bwMode="auto">
          <a:xfrm>
            <a:off x="5219700" y="2590800"/>
            <a:ext cx="628650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Bob</a:t>
            </a:r>
          </a:p>
        </p:txBody>
      </p:sp>
      <p:sp>
        <p:nvSpPr>
          <p:cNvPr id="1048678" name="Oval 45"/>
          <p:cNvSpPr>
            <a:spLocks noChangeArrowheads="1"/>
          </p:cNvSpPr>
          <p:nvPr/>
        </p:nvSpPr>
        <p:spPr bwMode="auto">
          <a:xfrm>
            <a:off x="5162550" y="2438400"/>
            <a:ext cx="762000" cy="762000"/>
          </a:xfrm>
          <a:prstGeom prst="ellipse"/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79" name="Rectangle 46"/>
          <p:cNvSpPr>
            <a:spLocks noChangeArrowheads="1"/>
          </p:cNvSpPr>
          <p:nvPr/>
        </p:nvSpPr>
        <p:spPr bwMode="auto">
          <a:xfrm>
            <a:off x="5162550" y="3657600"/>
            <a:ext cx="749300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Fred</a:t>
            </a:r>
          </a:p>
        </p:txBody>
      </p:sp>
      <p:sp>
        <p:nvSpPr>
          <p:cNvPr id="1048680" name="Oval 47"/>
          <p:cNvSpPr>
            <a:spLocks noChangeArrowheads="1"/>
          </p:cNvSpPr>
          <p:nvPr/>
        </p:nvSpPr>
        <p:spPr bwMode="auto">
          <a:xfrm>
            <a:off x="5162550" y="3505200"/>
            <a:ext cx="762000" cy="762000"/>
          </a:xfrm>
          <a:prstGeom prst="ellipse"/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81" name="Line 54"/>
          <p:cNvSpPr>
            <a:spLocks noChangeShapeType="1"/>
          </p:cNvSpPr>
          <p:nvPr/>
        </p:nvSpPr>
        <p:spPr bwMode="auto">
          <a:xfrm flipH="1">
            <a:off x="1371600" y="1524000"/>
            <a:ext cx="990600" cy="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82" name="Line 55"/>
          <p:cNvSpPr>
            <a:spLocks noChangeShapeType="1"/>
          </p:cNvSpPr>
          <p:nvPr/>
        </p:nvSpPr>
        <p:spPr bwMode="auto">
          <a:xfrm flipH="1" flipV="1">
            <a:off x="1447800" y="1752600"/>
            <a:ext cx="914400" cy="7620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83" name="Line 56"/>
          <p:cNvSpPr>
            <a:spLocks noChangeShapeType="1"/>
          </p:cNvSpPr>
          <p:nvPr/>
        </p:nvSpPr>
        <p:spPr bwMode="auto">
          <a:xfrm flipH="1" flipV="1">
            <a:off x="1371600" y="1981200"/>
            <a:ext cx="990600" cy="16002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84" name="Line 57"/>
          <p:cNvSpPr>
            <a:spLocks noChangeShapeType="1"/>
          </p:cNvSpPr>
          <p:nvPr/>
        </p:nvSpPr>
        <p:spPr bwMode="auto">
          <a:xfrm flipH="1">
            <a:off x="1447800" y="2819400"/>
            <a:ext cx="914400" cy="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85" name="Line 59"/>
          <p:cNvSpPr>
            <a:spLocks noChangeShapeType="1"/>
          </p:cNvSpPr>
          <p:nvPr/>
        </p:nvSpPr>
        <p:spPr bwMode="auto">
          <a:xfrm flipH="1" flipV="1">
            <a:off x="1371600" y="3048000"/>
            <a:ext cx="990600" cy="8382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86" name="Line 60"/>
          <p:cNvSpPr>
            <a:spLocks noChangeShapeType="1"/>
          </p:cNvSpPr>
          <p:nvPr/>
        </p:nvSpPr>
        <p:spPr bwMode="auto">
          <a:xfrm flipH="1">
            <a:off x="1371600" y="4114800"/>
            <a:ext cx="990600" cy="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687" name="Line 63"/>
          <p:cNvSpPr>
            <a:spLocks noChangeShapeType="1"/>
          </p:cNvSpPr>
          <p:nvPr/>
        </p:nvSpPr>
        <p:spPr bwMode="auto">
          <a:xfrm>
            <a:off x="2362200" y="1591159"/>
            <a:ext cx="457200" cy="0"/>
          </a:xfrm>
          <a:prstGeom prst="line"/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88" name="Line 64"/>
          <p:cNvSpPr>
            <a:spLocks noChangeShapeType="1"/>
          </p:cNvSpPr>
          <p:nvPr/>
        </p:nvSpPr>
        <p:spPr bwMode="auto">
          <a:xfrm flipV="1">
            <a:off x="2362200" y="1803263"/>
            <a:ext cx="457200" cy="0"/>
          </a:xfrm>
          <a:prstGeom prst="line"/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89" name="Line 65"/>
          <p:cNvSpPr>
            <a:spLocks noChangeShapeType="1"/>
          </p:cNvSpPr>
          <p:nvPr/>
        </p:nvSpPr>
        <p:spPr bwMode="auto">
          <a:xfrm>
            <a:off x="2362200" y="2696059"/>
            <a:ext cx="457200" cy="0"/>
          </a:xfrm>
          <a:prstGeom prst="line"/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90" name="Line 66"/>
          <p:cNvSpPr>
            <a:spLocks noChangeShapeType="1"/>
          </p:cNvSpPr>
          <p:nvPr/>
        </p:nvSpPr>
        <p:spPr bwMode="auto">
          <a:xfrm>
            <a:off x="2362200" y="2932044"/>
            <a:ext cx="457200" cy="0"/>
          </a:xfrm>
          <a:prstGeom prst="line"/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91" name="Line 67"/>
          <p:cNvSpPr>
            <a:spLocks noChangeShapeType="1"/>
          </p:cNvSpPr>
          <p:nvPr/>
        </p:nvSpPr>
        <p:spPr bwMode="auto">
          <a:xfrm>
            <a:off x="2362200" y="3752298"/>
            <a:ext cx="457200" cy="0"/>
          </a:xfrm>
          <a:prstGeom prst="line"/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92" name="Line 68"/>
          <p:cNvSpPr>
            <a:spLocks noChangeShapeType="1"/>
          </p:cNvSpPr>
          <p:nvPr/>
        </p:nvSpPr>
        <p:spPr bwMode="auto">
          <a:xfrm flipV="1">
            <a:off x="2362200" y="3958605"/>
            <a:ext cx="457200" cy="0"/>
          </a:xfrm>
          <a:prstGeom prst="line"/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93" name="Rectangle 70"/>
          <p:cNvSpPr>
            <a:spLocks noChangeArrowheads="1"/>
          </p:cNvSpPr>
          <p:nvPr/>
        </p:nvSpPr>
        <p:spPr bwMode="auto">
          <a:xfrm>
            <a:off x="6019800" y="1295400"/>
            <a:ext cx="450850" cy="85883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altLang="en-US" sz="1800" lang="en-US"/>
              <a:t>r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/>
              <a:t>w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/>
              <a:t>rw</a:t>
            </a:r>
          </a:p>
        </p:txBody>
      </p:sp>
      <p:sp>
        <p:nvSpPr>
          <p:cNvPr id="1048694" name="AutoShape 71"/>
          <p:cNvSpPr>
            <a:spLocks noChangeArrowheads="1"/>
          </p:cNvSpPr>
          <p:nvPr/>
        </p:nvSpPr>
        <p:spPr bwMode="auto">
          <a:xfrm>
            <a:off x="6019800" y="2424113"/>
            <a:ext cx="457200" cy="7620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95" name="Rectangle 72"/>
          <p:cNvSpPr>
            <a:spLocks noChangeArrowheads="1"/>
          </p:cNvSpPr>
          <p:nvPr/>
        </p:nvSpPr>
        <p:spPr bwMode="auto">
          <a:xfrm>
            <a:off x="6019800" y="2376488"/>
            <a:ext cx="469900" cy="85883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---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r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r</a:t>
            </a:r>
            <a:endParaRPr altLang="en-US" sz="1800" lang="en-US"/>
          </a:p>
        </p:txBody>
      </p:sp>
      <p:sp>
        <p:nvSpPr>
          <p:cNvPr id="1048696" name="AutoShape 73"/>
          <p:cNvSpPr>
            <a:spLocks noChangeArrowheads="1"/>
          </p:cNvSpPr>
          <p:nvPr/>
        </p:nvSpPr>
        <p:spPr bwMode="auto">
          <a:xfrm>
            <a:off x="6019800" y="3490913"/>
            <a:ext cx="457200" cy="7620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697" name="Rectangle 74"/>
          <p:cNvSpPr>
            <a:spLocks noChangeArrowheads="1"/>
          </p:cNvSpPr>
          <p:nvPr/>
        </p:nvSpPr>
        <p:spPr bwMode="auto">
          <a:xfrm>
            <a:off x="6007100" y="3446463"/>
            <a:ext cx="469900" cy="85883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altLang="en-US" sz="1800" lang="en-US"/>
              <a:t>r</a:t>
            </a:r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>
                <a:sym typeface="Symbol" panose="05050102010706020507" pitchFamily="18" charset="2"/>
              </a:rPr>
              <a:t>---</a:t>
            </a:r>
            <a:endParaRPr altLang="en-US" sz="1800" lang="en-US"/>
          </a:p>
          <a:p>
            <a:pPr algn="ctr" eaLnBrk="1" hangingPunct="1">
              <a:lnSpc>
                <a:spcPct val="80000"/>
              </a:lnSpc>
            </a:pPr>
            <a:r>
              <a:rPr altLang="en-US" sz="1800" lang="en-US"/>
              <a:t>r</a:t>
            </a:r>
          </a:p>
        </p:txBody>
      </p:sp>
      <p:sp>
        <p:nvSpPr>
          <p:cNvPr id="1048698" name="Line 75"/>
          <p:cNvSpPr>
            <a:spLocks noChangeShapeType="1"/>
          </p:cNvSpPr>
          <p:nvPr/>
        </p:nvSpPr>
        <p:spPr bwMode="auto">
          <a:xfrm>
            <a:off x="6019800" y="1563619"/>
            <a:ext cx="457200" cy="0"/>
          </a:xfrm>
          <a:prstGeom prst="line"/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699" name="Line 76"/>
          <p:cNvSpPr>
            <a:spLocks noChangeShapeType="1"/>
          </p:cNvSpPr>
          <p:nvPr/>
        </p:nvSpPr>
        <p:spPr bwMode="auto">
          <a:xfrm flipV="1">
            <a:off x="6019800" y="1802228"/>
            <a:ext cx="457200" cy="0"/>
          </a:xfrm>
          <a:prstGeom prst="line"/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700" name="Line 77"/>
          <p:cNvSpPr>
            <a:spLocks noChangeShapeType="1"/>
          </p:cNvSpPr>
          <p:nvPr/>
        </p:nvSpPr>
        <p:spPr bwMode="auto">
          <a:xfrm>
            <a:off x="6019800" y="2655267"/>
            <a:ext cx="457200" cy="0"/>
          </a:xfrm>
          <a:prstGeom prst="line"/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701" name="Line 78"/>
          <p:cNvSpPr>
            <a:spLocks noChangeShapeType="1"/>
          </p:cNvSpPr>
          <p:nvPr/>
        </p:nvSpPr>
        <p:spPr bwMode="auto">
          <a:xfrm>
            <a:off x="6019800" y="2891253"/>
            <a:ext cx="457200" cy="0"/>
          </a:xfrm>
          <a:prstGeom prst="line"/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702" name="Line 79"/>
          <p:cNvSpPr>
            <a:spLocks noChangeShapeType="1"/>
          </p:cNvSpPr>
          <p:nvPr/>
        </p:nvSpPr>
        <p:spPr bwMode="auto">
          <a:xfrm>
            <a:off x="6019800" y="3751263"/>
            <a:ext cx="457200" cy="0"/>
          </a:xfrm>
          <a:prstGeom prst="line"/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703" name="Line 80"/>
          <p:cNvSpPr>
            <a:spLocks noChangeShapeType="1"/>
          </p:cNvSpPr>
          <p:nvPr/>
        </p:nvSpPr>
        <p:spPr bwMode="auto">
          <a:xfrm flipV="1">
            <a:off x="6019800" y="3957569"/>
            <a:ext cx="457200" cy="0"/>
          </a:xfrm>
          <a:prstGeom prst="line"/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704" name="Line 82"/>
          <p:cNvSpPr>
            <a:spLocks noChangeShapeType="1"/>
          </p:cNvSpPr>
          <p:nvPr/>
        </p:nvSpPr>
        <p:spPr bwMode="auto">
          <a:xfrm>
            <a:off x="6477000" y="1498600"/>
            <a:ext cx="914400" cy="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05" name="Line 83"/>
          <p:cNvSpPr>
            <a:spLocks noChangeShapeType="1"/>
          </p:cNvSpPr>
          <p:nvPr/>
        </p:nvSpPr>
        <p:spPr bwMode="auto">
          <a:xfrm>
            <a:off x="6477000" y="1752600"/>
            <a:ext cx="914400" cy="8382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06" name="Line 84"/>
          <p:cNvSpPr>
            <a:spLocks noChangeShapeType="1"/>
          </p:cNvSpPr>
          <p:nvPr/>
        </p:nvSpPr>
        <p:spPr bwMode="auto">
          <a:xfrm>
            <a:off x="6477000" y="1965325"/>
            <a:ext cx="914400" cy="17526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07" name="Line 86"/>
          <p:cNvSpPr>
            <a:spLocks noChangeShapeType="1"/>
          </p:cNvSpPr>
          <p:nvPr/>
        </p:nvSpPr>
        <p:spPr bwMode="auto">
          <a:xfrm>
            <a:off x="6477000" y="2819400"/>
            <a:ext cx="914400" cy="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08" name="Line 89"/>
          <p:cNvSpPr>
            <a:spLocks noChangeShapeType="1"/>
          </p:cNvSpPr>
          <p:nvPr/>
        </p:nvSpPr>
        <p:spPr bwMode="auto">
          <a:xfrm>
            <a:off x="6477000" y="4114800"/>
            <a:ext cx="914400" cy="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09" name="Line 90"/>
          <p:cNvSpPr>
            <a:spLocks noChangeShapeType="1"/>
          </p:cNvSpPr>
          <p:nvPr/>
        </p:nvSpPr>
        <p:spPr bwMode="auto">
          <a:xfrm flipV="1">
            <a:off x="6477000" y="1905000"/>
            <a:ext cx="914400" cy="17526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10" name="Line 91"/>
          <p:cNvSpPr>
            <a:spLocks noChangeShapeType="1"/>
          </p:cNvSpPr>
          <p:nvPr/>
        </p:nvSpPr>
        <p:spPr bwMode="auto">
          <a:xfrm>
            <a:off x="6477000" y="3079750"/>
            <a:ext cx="914400" cy="8382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11" name="AutoShape 94"/>
          <p:cNvSpPr>
            <a:spLocks noChangeArrowheads="1"/>
          </p:cNvSpPr>
          <p:nvPr/>
        </p:nvSpPr>
        <p:spPr bwMode="auto">
          <a:xfrm>
            <a:off x="2362200" y="2438400"/>
            <a:ext cx="457200" cy="7620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1320EE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712" name="AutoShape 95"/>
          <p:cNvSpPr>
            <a:spLocks noChangeArrowheads="1"/>
          </p:cNvSpPr>
          <p:nvPr/>
        </p:nvSpPr>
        <p:spPr bwMode="auto">
          <a:xfrm>
            <a:off x="6019800" y="1331844"/>
            <a:ext cx="457200" cy="7620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sp>
        <p:nvSpPr>
          <p:cNvPr id="1048713" name="Line 96"/>
          <p:cNvSpPr>
            <a:spLocks noChangeShapeType="1"/>
          </p:cNvSpPr>
          <p:nvPr/>
        </p:nvSpPr>
        <p:spPr bwMode="auto">
          <a:xfrm flipH="1">
            <a:off x="1371600" y="1905000"/>
            <a:ext cx="971550" cy="1752600"/>
          </a:xfrm>
          <a:prstGeom prst="line"/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0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5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 nodeType="clickPar">
                      <p:stCondLst>
                        <p:cond delay="indefinite"/>
                      </p:stCondLst>
                      <p:childTnLst>
                        <p:par>
                          <p:cTn fill="hold" id="1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1"/>
                                        <p:tgtEl>
                                          <p:spTgt spid="1048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3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24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1048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8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29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 nodeType="clickPar">
                      <p:stCondLst>
                        <p:cond delay="indefinite"/>
                      </p:stCondLst>
                      <p:childTnLst>
                        <p:par>
                          <p:cTn fill="hold" id="3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1048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6"/>
                                        <p:tgtEl>
                                          <p:spTgt spid="1048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7" nodeType="clickPar">
                      <p:stCondLst>
                        <p:cond delay="indefinite"/>
                      </p:stCondLst>
                      <p:childTnLst>
                        <p:par>
                          <p:cTn fill="hold" id="3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1"/>
                                        <p:tgtEl>
                                          <p:spTgt spid="1048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2"/>
                                        <p:tgtEl>
                                          <p:spTgt spid="1048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4" grpId="0" autoUpdateAnimBg="0"/>
      <p:bldP spid="1048645" grpId="0" autoUpdateAnimBg="0"/>
      <p:bldP spid="1048646" grpId="0" animBg="1"/>
      <p:bldP spid="1048647" grpId="0" animBg="1"/>
      <p:bldP spid="104865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pPr eaLnBrk="1" hangingPunct="1"/>
            <a:r>
              <a:rPr altLang="en-US" dirty="0" lang="en-US"/>
              <a:t>Confused Deputy</a:t>
            </a:r>
          </a:p>
        </p:txBody>
      </p:sp>
      <p:sp>
        <p:nvSpPr>
          <p:cNvPr id="1048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10000" cy="4495800"/>
          </a:xfrm>
        </p:spPr>
        <p:txBody>
          <a:bodyPr/>
          <a:p>
            <a:pPr eaLnBrk="1" hangingPunct="1">
              <a:lnSpc>
                <a:spcPct val="85000"/>
              </a:lnSpc>
            </a:pPr>
            <a:r>
              <a:rPr altLang="en-US" dirty="0" sz="2800" lang="en-US"/>
              <a:t>Two resources</a:t>
            </a:r>
          </a:p>
          <a:p>
            <a:pPr eaLnBrk="1" hangingPunct="1" lvl="1">
              <a:lnSpc>
                <a:spcPct val="85000"/>
              </a:lnSpc>
            </a:pPr>
            <a:r>
              <a:rPr altLang="en-US" dirty="0" sz="2400" lang="en-US"/>
              <a:t>Compiler and </a:t>
            </a:r>
            <a:r>
              <a:rPr altLang="en-US" dirty="0" sz="2400" lang="en-US">
                <a:latin typeface="Times-Roman" charset="0"/>
              </a:rPr>
              <a:t>BILL</a:t>
            </a:r>
            <a:r>
              <a:rPr altLang="en-US" dirty="0" sz="2400" lang="en-US"/>
              <a:t> file (billing info)</a:t>
            </a:r>
          </a:p>
          <a:p>
            <a:pPr eaLnBrk="1" hangingPunct="1">
              <a:lnSpc>
                <a:spcPct val="85000"/>
              </a:lnSpc>
            </a:pPr>
            <a:r>
              <a:rPr altLang="en-US" dirty="0" sz="2800" lang="en-US">
                <a:solidFill>
                  <a:srgbClr val="0070C0"/>
                </a:solidFill>
              </a:rPr>
              <a:t>Compiler</a:t>
            </a:r>
            <a:r>
              <a:rPr altLang="en-US" dirty="0" sz="2800" lang="en-US"/>
              <a:t> can write file </a:t>
            </a:r>
            <a:r>
              <a:rPr altLang="en-US" dirty="0" sz="2800" lang="en-US">
                <a:solidFill>
                  <a:srgbClr val="7030A0"/>
                </a:solidFill>
                <a:latin typeface="Times-Roman" charset="0"/>
              </a:rPr>
              <a:t>BILL</a:t>
            </a:r>
            <a:endParaRPr altLang="en-US" dirty="0" sz="2800" lang="en-US">
              <a:solidFill>
                <a:srgbClr val="7030A0"/>
              </a:solidFill>
            </a:endParaRPr>
          </a:p>
          <a:p>
            <a:pPr eaLnBrk="1" hangingPunct="1">
              <a:lnSpc>
                <a:spcPct val="85000"/>
              </a:lnSpc>
            </a:pPr>
            <a:r>
              <a:rPr altLang="en-US" dirty="0" sz="2800" lang="en-US"/>
              <a:t>Alice can invoke compiler with a debug filename</a:t>
            </a:r>
          </a:p>
          <a:p>
            <a:pPr eaLnBrk="1" hangingPunct="1">
              <a:lnSpc>
                <a:spcPct val="85000"/>
              </a:lnSpc>
            </a:pPr>
            <a:r>
              <a:rPr altLang="en-US" dirty="0" sz="2800" lang="en-US"/>
              <a:t>Alice not allowed to write to </a:t>
            </a:r>
            <a:r>
              <a:rPr altLang="en-US" dirty="0" sz="2800" lang="en-US">
                <a:latin typeface="Times-Roman" charset="0"/>
              </a:rPr>
              <a:t>BILL</a:t>
            </a:r>
            <a:endParaRPr altLang="en-US" dirty="0" sz="2800" lang="en-US"/>
          </a:p>
        </p:txBody>
      </p:sp>
      <p:sp>
        <p:nvSpPr>
          <p:cNvPr id="1048716" name="Rectangle 5"/>
          <p:cNvSpPr>
            <a:spLocks noChangeArrowheads="1"/>
          </p:cNvSpPr>
          <p:nvPr/>
        </p:nvSpPr>
        <p:spPr bwMode="auto">
          <a:xfrm>
            <a:off x="4648200" y="1600200"/>
            <a:ext cx="4267200" cy="762000"/>
          </a:xfrm>
          <a:prstGeom prst="rect"/>
          <a:noFill/>
          <a:ln>
            <a:noFill/>
          </a:ln>
        </p:spPr>
        <p:txBody>
          <a:bodyPr/>
          <a:lstStyle>
            <a:lvl1pPr eaLnBrk="0" hangingPunct="0" indent="-342900" marL="3429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</a:pPr>
            <a:r>
              <a:rPr altLang="en-US" sz="2800" lang="en-US"/>
              <a:t>Access control matrix </a:t>
            </a:r>
          </a:p>
        </p:txBody>
      </p:sp>
      <p:graphicFrame>
        <p:nvGraphicFramePr>
          <p:cNvPr id="4194308" name="Group 6"/>
          <p:cNvGraphicFramePr>
            <a:graphicFrameLocks noGrp="1"/>
          </p:cNvGraphicFramePr>
          <p:nvPr/>
        </p:nvGraphicFramePr>
        <p:xfrm>
          <a:off x="6096000" y="2819400"/>
          <a:ext cx="2530475" cy="1600200"/>
        </p:xfrm>
        <a:graphic>
          <a:graphicData uri="http://schemas.openxmlformats.org/drawingml/2006/table">
            <a:tbl>
              <a:tblPr/>
              <a:tblGrid>
                <a:gridCol w="1265238"/>
                <a:gridCol w="1265237"/>
              </a:tblGrid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---</a:t>
                      </a:r>
                      <a:endParaRPr baseline="0" b="0" cap="none" sz="2800" i="0" kumimoji="0" lang="en-US" normalizeH="0" strike="noStrike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800100"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baseline="0" b="0" cap="none" sz="2800" i="0" kumimoji="0" lang="en-US" normalizeH="0" strike="noStrike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717" name="Rectangle 17"/>
          <p:cNvSpPr>
            <a:spLocks noChangeArrowheads="1"/>
          </p:cNvSpPr>
          <p:nvPr/>
        </p:nvSpPr>
        <p:spPr bwMode="auto">
          <a:xfrm>
            <a:off x="6019800" y="2286000"/>
            <a:ext cx="1409700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Compiler</a:t>
            </a:r>
          </a:p>
        </p:txBody>
      </p:sp>
      <p:sp>
        <p:nvSpPr>
          <p:cNvPr id="1048718" name="Rectangle 18"/>
          <p:cNvSpPr>
            <a:spLocks noChangeArrowheads="1"/>
          </p:cNvSpPr>
          <p:nvPr/>
        </p:nvSpPr>
        <p:spPr bwMode="auto">
          <a:xfrm>
            <a:off x="7568021" y="2362200"/>
            <a:ext cx="867546" cy="46166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dirty="0" lang="en-US">
                <a:solidFill>
                  <a:srgbClr val="7030A0"/>
                </a:solidFill>
                <a:latin typeface="Times-Roman" charset="0"/>
              </a:rPr>
              <a:t>BILL</a:t>
            </a:r>
            <a:endParaRPr altLang="en-US" dirty="0" lang="en-US">
              <a:solidFill>
                <a:srgbClr val="7030A0"/>
              </a:solidFill>
            </a:endParaRPr>
          </a:p>
        </p:txBody>
      </p:sp>
      <p:sp>
        <p:nvSpPr>
          <p:cNvPr id="1048719" name="Rectangle 19"/>
          <p:cNvSpPr>
            <a:spLocks noChangeArrowheads="1"/>
          </p:cNvSpPr>
          <p:nvPr/>
        </p:nvSpPr>
        <p:spPr bwMode="auto">
          <a:xfrm>
            <a:off x="5105400" y="2987675"/>
            <a:ext cx="900113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Alice</a:t>
            </a:r>
          </a:p>
        </p:txBody>
      </p:sp>
      <p:sp>
        <p:nvSpPr>
          <p:cNvPr id="1048720" name="Rectangle 20"/>
          <p:cNvSpPr>
            <a:spLocks noChangeArrowheads="1"/>
          </p:cNvSpPr>
          <p:nvPr/>
        </p:nvSpPr>
        <p:spPr bwMode="auto">
          <a:xfrm>
            <a:off x="4572000" y="3749675"/>
            <a:ext cx="1423788" cy="46166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dirty="0" lang="en-US">
                <a:solidFill>
                  <a:srgbClr val="0070C0"/>
                </a:solidFill>
              </a:rPr>
              <a:t>Compiler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7"/>
                                        <p:tgtEl>
                                          <p:spTgt spid="1048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8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0"/>
                                        <p:tgtEl>
                                          <p:spTgt spid="1048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5"/>
                                        <p:tgtEl>
                                          <p:spTgt spid="1048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6" nodeType="clickPar">
                      <p:stCondLst>
                        <p:cond delay="indefinite"/>
                      </p:stCondLst>
                      <p:childTnLst>
                        <p:par>
                          <p:cTn fill="hold" id="17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8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0"/>
                                        <p:tgtEl>
                                          <p:spTgt spid="1048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 nodeType="clickPar">
                      <p:stCondLst>
                        <p:cond delay="indefinite"/>
                      </p:stCondLst>
                      <p:childTnLst>
                        <p:par>
                          <p:cTn fill="hold" id="2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5"/>
                                        <p:tgtEl>
                                          <p:spTgt spid="1048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6" nodeType="clickPar">
                      <p:stCondLst>
                        <p:cond delay="indefinite"/>
                      </p:stCondLst>
                      <p:childTnLst>
                        <p:par>
                          <p:cTn fill="hold" id="27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8" nodeType="clickEffect" presetClass="entr" presetID="0" presetSubtype="12289340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0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id="31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3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34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5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6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37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9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40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2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43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5" grpId="0" build="p" autoUpdateAnimBg="0"/>
      <p:bldP spid="1048716" grpId="0" build="p" autoUpdateAnimBg="0"/>
      <p:bldP spid="1048717" grpId="0" build="p" autoUpdateAnimBg="0" advAuto="0"/>
      <p:bldP spid="1048718" grpId="0" build="p" autoUpdateAnimBg="0" advAuto="0"/>
      <p:bldP spid="1048719" grpId="0" build="p" autoUpdateAnimBg="0" advAuto="0"/>
      <p:bldP spid="1048720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641735"/>
          </a:xfrm>
        </p:spPr>
        <p:txBody>
          <a:bodyPr/>
          <a:p>
            <a:r>
              <a:rPr altLang="en-US" dirty="0" lang="en-US"/>
              <a:t>Confused Deputy</a:t>
            </a:r>
            <a:endParaRPr dirty="0" lang="en-US"/>
          </a:p>
        </p:txBody>
      </p:sp>
      <p:sp>
        <p:nvSpPr>
          <p:cNvPr id="1048722" name="Content Placeholder 2"/>
          <p:cNvSpPr>
            <a:spLocks noGrp="1"/>
          </p:cNvSpPr>
          <p:nvPr>
            <p:ph idx="1"/>
          </p:nvPr>
        </p:nvSpPr>
        <p:spPr>
          <a:xfrm>
            <a:off x="435895" y="1524001"/>
            <a:ext cx="8272211" cy="4946072"/>
          </a:xfrm>
        </p:spPr>
        <p:txBody>
          <a:bodyPr>
            <a:normAutofit fontScale="93750" lnSpcReduction="10000"/>
          </a:bodyPr>
          <a:p>
            <a:r>
              <a:rPr b="0" dirty="0" sz="2400" i="0" lang="en-US">
                <a:solidFill>
                  <a:srgbClr val="000000"/>
                </a:solidFill>
                <a:effectLst/>
                <a:latin typeface="TimesNewRomanPSMT"/>
              </a:rPr>
              <a:t>With ACLs, it's more difficult (but not impossible) to avoid the confused deputy.</a:t>
            </a:r>
          </a:p>
          <a:p>
            <a:r>
              <a:rPr b="0" dirty="0" sz="2400" i="0" lang="en-US">
                <a:solidFill>
                  <a:srgbClr val="000000"/>
                </a:solidFill>
                <a:effectLst/>
                <a:latin typeface="TimesNewRomanPSMT"/>
              </a:rPr>
              <a:t>In contrast, with capabilities it's relatively easy to prevent this</a:t>
            </a:r>
            <a:br>
              <a:rPr b="0" dirty="0" sz="2400" i="0" lang="en-US">
                <a:solidFill>
                  <a:srgbClr val="000000"/>
                </a:solidFill>
                <a:effectLst/>
                <a:latin typeface="TimesNewRomanPSMT"/>
              </a:rPr>
            </a:br>
            <a:r>
              <a:rPr b="0" dirty="0" sz="2400" i="0" lang="en-US">
                <a:solidFill>
                  <a:srgbClr val="000000"/>
                </a:solidFill>
                <a:effectLst/>
                <a:latin typeface="TimesNewRomanPSMT"/>
              </a:rPr>
              <a:t>problem, since capabilities are easily delegated, while ACLs are not. </a:t>
            </a:r>
          </a:p>
          <a:p>
            <a:r>
              <a:rPr b="0" dirty="0" sz="2400" i="0" lang="en-US">
                <a:solidFill>
                  <a:srgbClr val="000000"/>
                </a:solidFill>
                <a:effectLst/>
                <a:latin typeface="TimesNewRomanPSMT"/>
              </a:rPr>
              <a:t>In a capabilities-based system, when Alice invokes the compiler, she can simply give her C-list to the compiler.</a:t>
            </a:r>
          </a:p>
          <a:p>
            <a:r>
              <a:rPr b="0" dirty="0" sz="2400" i="0" lang="en-US">
                <a:solidFill>
                  <a:srgbClr val="000000"/>
                </a:solidFill>
                <a:effectLst/>
                <a:latin typeface="TimesNewRomanPSMT"/>
              </a:rPr>
              <a:t>The compiler then consults Alice's C-list when checking privileges before attempting to create the debug file. </a:t>
            </a:r>
          </a:p>
          <a:p>
            <a:r>
              <a:rPr b="0" dirty="0" sz="2400" i="0" lang="en-US">
                <a:solidFill>
                  <a:srgbClr val="000000"/>
                </a:solidFill>
                <a:effectLst/>
                <a:latin typeface="TimesNewRomanPSMT"/>
              </a:rPr>
              <a:t>Since Alice does not have the privilege to overwrite BILL, the situation in following Figure can be avoided.</a:t>
            </a:r>
            <a:r>
              <a:rPr dirty="0" sz="1600" lang="en-US"/>
              <a:t> </a:t>
            </a:r>
            <a:br>
              <a:rPr dirty="0" sz="1600" lang="en-US"/>
            </a:br>
            <a:endParaRPr dirty="0" sz="160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pPr eaLnBrk="1" hangingPunct="1"/>
            <a:r>
              <a:rPr altLang="en-US" lang="en-US"/>
              <a:t>ACL’s and Confused Deputy</a:t>
            </a:r>
          </a:p>
        </p:txBody>
      </p:sp>
      <p:sp>
        <p:nvSpPr>
          <p:cNvPr id="104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8077200" cy="1828800"/>
          </a:xfrm>
        </p:spPr>
        <p:txBody>
          <a:bodyPr>
            <a:normAutofit lnSpcReduction="10000"/>
          </a:bodyPr>
          <a:p>
            <a:pPr eaLnBrk="1" hangingPunct="1">
              <a:lnSpc>
                <a:spcPct val="80000"/>
              </a:lnSpc>
            </a:pPr>
            <a:r>
              <a:rPr altLang="en-US" dirty="0" sz="2800" lang="en-US"/>
              <a:t>Compiler is </a:t>
            </a:r>
            <a:r>
              <a:rPr altLang="en-US" b="1" dirty="0" sz="2800" lang="en-US">
                <a:solidFill>
                  <a:schemeClr val="accent2"/>
                </a:solidFill>
              </a:rPr>
              <a:t>deputy</a:t>
            </a:r>
            <a:r>
              <a:rPr altLang="en-US" dirty="0" sz="2800" lang="en-US"/>
              <a:t> acting on behalf of Alice</a:t>
            </a:r>
          </a:p>
          <a:p>
            <a:pPr eaLnBrk="1" hangingPunct="1">
              <a:lnSpc>
                <a:spcPct val="80000"/>
              </a:lnSpc>
            </a:pPr>
            <a:r>
              <a:rPr altLang="en-US" dirty="0" sz="2800" lang="en-US"/>
              <a:t>Compiler is </a:t>
            </a:r>
            <a:r>
              <a:rPr altLang="en-US" b="1" dirty="0" sz="2800" lang="en-US">
                <a:solidFill>
                  <a:schemeClr val="accent2"/>
                </a:solidFill>
              </a:rPr>
              <a:t>confused</a:t>
            </a:r>
          </a:p>
          <a:p>
            <a:pPr eaLnBrk="1" hangingPunct="1" lvl="1">
              <a:lnSpc>
                <a:spcPct val="80000"/>
              </a:lnSpc>
            </a:pPr>
            <a:r>
              <a:rPr altLang="en-US" dirty="0" sz="2400" lang="en-US"/>
              <a:t>Alice is not allowed to write </a:t>
            </a:r>
            <a:r>
              <a:rPr altLang="en-US" dirty="0" sz="2400" lang="en-US">
                <a:latin typeface="Times-Roman" charset="0"/>
              </a:rPr>
              <a:t>BILL</a:t>
            </a:r>
            <a:endParaRPr altLang="en-US" dirty="0" sz="2400" lang="en-US"/>
          </a:p>
          <a:p>
            <a:pPr eaLnBrk="1" hangingPunct="1">
              <a:lnSpc>
                <a:spcPct val="80000"/>
              </a:lnSpc>
            </a:pPr>
            <a:r>
              <a:rPr altLang="en-US" dirty="0" sz="2800" lang="en-US"/>
              <a:t>Compiler has confused its rights with Alice’s</a:t>
            </a:r>
          </a:p>
        </p:txBody>
      </p:sp>
      <p:sp>
        <p:nvSpPr>
          <p:cNvPr id="1048725" name="Line 6"/>
          <p:cNvSpPr>
            <a:spLocks noChangeShapeType="1"/>
          </p:cNvSpPr>
          <p:nvPr/>
        </p:nvSpPr>
        <p:spPr bwMode="auto">
          <a:xfrm flipV="1">
            <a:off x="1798638" y="2286000"/>
            <a:ext cx="1828800" cy="38100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26" name="Rectangle 8"/>
          <p:cNvSpPr>
            <a:spLocks noChangeArrowheads="1"/>
          </p:cNvSpPr>
          <p:nvPr/>
        </p:nvSpPr>
        <p:spPr bwMode="auto">
          <a:xfrm>
            <a:off x="806450" y="3548063"/>
            <a:ext cx="900113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altLang="en-US" lang="en-US"/>
              <a:t>Alice</a:t>
            </a:r>
          </a:p>
        </p:txBody>
      </p:sp>
      <p:sp>
        <p:nvSpPr>
          <p:cNvPr id="1048727" name="Rectangle 9"/>
          <p:cNvSpPr>
            <a:spLocks noChangeArrowheads="1"/>
          </p:cNvSpPr>
          <p:nvPr/>
        </p:nvSpPr>
        <p:spPr bwMode="auto">
          <a:xfrm>
            <a:off x="7265988" y="3581400"/>
            <a:ext cx="811212" cy="45720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altLang="en-US" lang="en-US">
                <a:latin typeface="Times-Roman" charset="0"/>
              </a:rPr>
              <a:t>BILL</a:t>
            </a:r>
          </a:p>
        </p:txBody>
      </p:sp>
      <p:sp>
        <p:nvSpPr>
          <p:cNvPr id="1048728" name="Line 10"/>
          <p:cNvSpPr>
            <a:spLocks noChangeShapeType="1"/>
          </p:cNvSpPr>
          <p:nvPr/>
        </p:nvSpPr>
        <p:spPr bwMode="auto">
          <a:xfrm>
            <a:off x="5227638" y="2286000"/>
            <a:ext cx="1600200" cy="45720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29" name="Rectangle 18"/>
          <p:cNvSpPr>
            <a:spLocks noChangeArrowheads="1"/>
          </p:cNvSpPr>
          <p:nvPr/>
        </p:nvSpPr>
        <p:spPr bwMode="auto">
          <a:xfrm>
            <a:off x="3741738" y="2911475"/>
            <a:ext cx="1409700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altLang="en-US" lang="en-US"/>
              <a:t>Compiler</a:t>
            </a:r>
          </a:p>
        </p:txBody>
      </p:sp>
      <p:sp>
        <p:nvSpPr>
          <p:cNvPr id="1048730" name="Rectangle 19"/>
          <p:cNvSpPr>
            <a:spLocks noChangeArrowheads="1"/>
          </p:cNvSpPr>
          <p:nvPr/>
        </p:nvSpPr>
        <p:spPr bwMode="auto">
          <a:xfrm rot="-651942">
            <a:off x="1985963" y="1981200"/>
            <a:ext cx="1031875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altLang="en-US" lang="en-US"/>
              <a:t>debug</a:t>
            </a:r>
          </a:p>
        </p:txBody>
      </p:sp>
      <p:sp>
        <p:nvSpPr>
          <p:cNvPr id="1048731" name="Rectangle 20"/>
          <p:cNvSpPr>
            <a:spLocks noChangeArrowheads="1"/>
          </p:cNvSpPr>
          <p:nvPr/>
        </p:nvSpPr>
        <p:spPr bwMode="auto">
          <a:xfrm rot="-627964">
            <a:off x="1752600" y="2514600"/>
            <a:ext cx="1790700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altLang="en-US" sz="2000" lang="en-US"/>
              <a:t>filename </a:t>
            </a:r>
            <a:r>
              <a:rPr altLang="en-US" sz="2000" lang="en-US">
                <a:latin typeface="Times-Roman" charset="0"/>
              </a:rPr>
              <a:t>BILL</a:t>
            </a:r>
            <a:endParaRPr altLang="en-US" lang="en-US">
              <a:latin typeface="Times-Roman" charset="0"/>
            </a:endParaRPr>
          </a:p>
        </p:txBody>
      </p:sp>
      <p:sp>
        <p:nvSpPr>
          <p:cNvPr id="1048732" name="Rectangle 21"/>
          <p:cNvSpPr>
            <a:spLocks noChangeArrowheads="1"/>
          </p:cNvSpPr>
          <p:nvPr/>
        </p:nvSpPr>
        <p:spPr bwMode="auto">
          <a:xfrm rot="891162">
            <a:off x="5635625" y="2057400"/>
            <a:ext cx="811213" cy="45720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altLang="en-US" lang="en-US">
                <a:latin typeface="Times-Roman" charset="0"/>
              </a:rPr>
              <a:t>BILL</a:t>
            </a:r>
          </a:p>
        </p:txBody>
      </p:sp>
      <p:pic>
        <p:nvPicPr>
          <p:cNvPr id="2097155" name="Picture 24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685800" y="1981200"/>
            <a:ext cx="946150" cy="1624013"/>
          </a:xfrm>
          <a:prstGeom prst="rect"/>
          <a:noFill/>
          <a:ln>
            <a:noFill/>
          </a:ln>
        </p:spPr>
      </p:pic>
      <p:pic>
        <p:nvPicPr>
          <p:cNvPr id="2097156" name="Picture 25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7086600" y="1905000"/>
            <a:ext cx="1138238" cy="1550988"/>
          </a:xfrm>
          <a:prstGeom prst="rect"/>
          <a:noFill/>
          <a:ln>
            <a:noFill/>
          </a:ln>
        </p:spPr>
      </p:pic>
      <p:pic>
        <p:nvPicPr>
          <p:cNvPr id="2097157" name="Picture 26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 bwMode="auto">
          <a:xfrm>
            <a:off x="7107238" y="1752600"/>
            <a:ext cx="1046162" cy="1804988"/>
          </a:xfrm>
          <a:prstGeom prst="rect"/>
          <a:noFill/>
          <a:ln>
            <a:noFill/>
          </a:ln>
        </p:spPr>
      </p:pic>
      <p:pic>
        <p:nvPicPr>
          <p:cNvPr id="2097158" name="Picture 27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 bwMode="auto">
          <a:xfrm>
            <a:off x="3673475" y="1828800"/>
            <a:ext cx="1524000" cy="1011238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>
    <p:sndAc>
      <p:stSnd>
        <p:snd r:embed="rId5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rrow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0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2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3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 nodeType="clickPar">
                      <p:stCondLst>
                        <p:cond delay="indefinite"/>
                      </p:stCondLst>
                      <p:childTnLst>
                        <p:par>
                          <p:cTn fill="hold" id="16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8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dur="500" id="19"/>
                                        <p:tgtEl>
                                          <p:spTgt spid="10487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rrow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21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3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id="24" nodeType="afterEffect" presetClass="entr" presetID="0" presetSubtype="12292376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6" nodeType="clickPar">
                      <p:stCondLst>
                        <p:cond delay="indefinite"/>
                      </p:stCondLst>
                      <p:childTnLst>
                        <p:par>
                          <p:cTn fill="hold" id="27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8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30"/>
                                        <p:tgtEl>
                                          <p:spTgt spid="104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 nodeType="clickPar">
                      <p:stCondLst>
                        <p:cond delay="indefinite"/>
                      </p:stCondLst>
                      <p:childTnLst>
                        <p:par>
                          <p:cTn fill="hold" id="3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3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35"/>
                                        <p:tgtEl>
                                          <p:spTgt spid="1048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36" nodeType="with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38"/>
                                        <p:tgtEl>
                                          <p:spTgt spid="1048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 nodeType="clickPar">
                      <p:stCondLst>
                        <p:cond delay="indefinite"/>
                      </p:stCondLst>
                      <p:childTnLst>
                        <p:par>
                          <p:cTn fill="hold" id="40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1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43"/>
                                        <p:tgtEl>
                                          <p:spTgt spid="1048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4" grpId="0" build="p" autoUpdateAnimBg="0"/>
      <p:bldP spid="1048730" grpId="0" autoUpdateAnimBg="0"/>
      <p:bldP spid="1048731" grpId="0" autoUpdateAnimBg="0"/>
      <p:bldP spid="104873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p>
            <a:pPr eaLnBrk="1" hangingPunct="1"/>
            <a:r>
              <a:rPr altLang="en-US" lang="en-US"/>
              <a:t>Confused Deputy</a:t>
            </a:r>
          </a:p>
        </p:txBody>
      </p:sp>
      <p:sp>
        <p:nvSpPr>
          <p:cNvPr id="1048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4572000"/>
          </a:xfrm>
        </p:spPr>
        <p:txBody>
          <a:bodyPr/>
          <a:p>
            <a:pPr eaLnBrk="1" hangingPunct="1"/>
            <a:r>
              <a:rPr altLang="en-US" dirty="0" sz="2800" lang="en-US"/>
              <a:t>Compiler acting for Alice is confused</a:t>
            </a:r>
          </a:p>
          <a:p>
            <a:pPr eaLnBrk="1" hangingPunct="1"/>
            <a:r>
              <a:rPr altLang="en-US" dirty="0" sz="2800" lang="en-US"/>
              <a:t>There has been a separation of </a:t>
            </a:r>
            <a:r>
              <a:rPr altLang="en-US" b="1" dirty="0" sz="2800" lang="en-US">
                <a:solidFill>
                  <a:schemeClr val="accent2"/>
                </a:solidFill>
              </a:rPr>
              <a:t>authority</a:t>
            </a:r>
            <a:r>
              <a:rPr altLang="en-US" dirty="0" sz="2800" lang="en-US"/>
              <a:t> from the </a:t>
            </a:r>
            <a:r>
              <a:rPr altLang="en-US" b="1" dirty="0" sz="2800" lang="en-US">
                <a:solidFill>
                  <a:schemeClr val="accent2"/>
                </a:solidFill>
              </a:rPr>
              <a:t>purpose</a:t>
            </a:r>
            <a:r>
              <a:rPr altLang="en-US" dirty="0" sz="2800" lang="en-US"/>
              <a:t> for which it is used</a:t>
            </a:r>
          </a:p>
          <a:p>
            <a:pPr eaLnBrk="1" hangingPunct="1"/>
            <a:r>
              <a:rPr altLang="en-US" dirty="0" sz="2800" lang="en-US"/>
              <a:t>With ACLs, difficult to avoid this problem</a:t>
            </a:r>
          </a:p>
          <a:p>
            <a:pPr eaLnBrk="1" hangingPunct="1"/>
            <a:r>
              <a:rPr altLang="en-US" dirty="0" sz="2800" lang="en-US"/>
              <a:t>With Capabilities, easier to prevent problem</a:t>
            </a:r>
          </a:p>
          <a:p>
            <a:pPr eaLnBrk="1" hangingPunct="1" lvl="1"/>
            <a:r>
              <a:rPr altLang="en-US" dirty="0" sz="2400" lang="en-US"/>
              <a:t>Must maintain association between authority and intended purpose</a:t>
            </a:r>
          </a:p>
          <a:p>
            <a:pPr eaLnBrk="1" hangingPunct="1" lvl="1"/>
            <a:r>
              <a:rPr altLang="en-US" dirty="0" sz="2400" lang="en-US"/>
              <a:t>Capabilities make it easy to </a:t>
            </a:r>
            <a:r>
              <a:rPr altLang="en-US" b="1" dirty="0" sz="2400" lang="en-US">
                <a:solidFill>
                  <a:schemeClr val="hlink"/>
                </a:solidFill>
              </a:rPr>
              <a:t>delegate</a:t>
            </a:r>
            <a:r>
              <a:rPr altLang="en-US" dirty="0" sz="2400" lang="en-US"/>
              <a:t> authority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7"/>
                                        <p:tgtEl>
                                          <p:spTgt spid="1048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2"/>
                                        <p:tgtEl>
                                          <p:spTgt spid="1048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7"/>
                                        <p:tgtEl>
                                          <p:spTgt spid="1048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 nodeType="clickPar">
                      <p:stCondLst>
                        <p:cond delay="indefinite"/>
                      </p:stCondLst>
                      <p:childTnLst>
                        <p:par>
                          <p:cTn fill="hold" id="1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0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2"/>
                                        <p:tgtEl>
                                          <p:spTgt spid="1048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 nodeType="clickPar">
                      <p:stCondLst>
                        <p:cond delay="indefinite"/>
                      </p:stCondLst>
                      <p:childTnLst>
                        <p:par>
                          <p:cTn fill="hold" id="2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7"/>
                                        <p:tgtEl>
                                          <p:spTgt spid="1048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 nodeType="clickPar">
                      <p:stCondLst>
                        <p:cond delay="indefinite"/>
                      </p:stCondLst>
                      <p:childTnLst>
                        <p:par>
                          <p:cTn fill="hold" id="2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0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32"/>
                                        <p:tgtEl>
                                          <p:spTgt spid="1048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4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p>
            <a:pPr eaLnBrk="1" hangingPunct="1"/>
            <a:r>
              <a:rPr altLang="en-US" lang="en-US"/>
              <a:t>ACLs vs Capabilities</a:t>
            </a:r>
          </a:p>
        </p:txBody>
      </p:sp>
      <p:sp>
        <p:nvSpPr>
          <p:cNvPr id="10487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848600" cy="49530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ACLs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Good when users manage their own files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Protection is data-oriented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Easy to change rights to a resource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Capabilities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Easy to delegate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Easy to add/delete users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Easier to avoid the </a:t>
            </a:r>
            <a:r>
              <a:rPr altLang="en-US" dirty="0" sz="2000" lang="en-US">
                <a:hlinkClick r:id="rId1"/>
              </a:rPr>
              <a:t>confused deputy</a:t>
            </a:r>
            <a:endParaRPr altLang="en-US" dirty="0" sz="2000" lang="en-US"/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More difficult to implement</a:t>
            </a:r>
          </a:p>
        </p:txBody>
      </p:sp>
    </p:spTree>
  </p:cSld>
  <p:clrMapOvr>
    <a:masterClrMapping/>
  </p:clrMapOvr>
  <p:transition spd="slow">
    <p:sndAc>
      <p:stSnd>
        <p:snd r:embed="rId2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7"/>
                                        <p:tgtEl>
                                          <p:spTgt spid="1048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8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0"/>
                                        <p:tgtEl>
                                          <p:spTgt spid="10487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11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3"/>
                                        <p:tgtEl>
                                          <p:spTgt spid="10487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14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6"/>
                                        <p:tgtEl>
                                          <p:spTgt spid="10487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 nodeType="clickPar">
                      <p:stCondLst>
                        <p:cond delay="indefinite"/>
                      </p:stCondLst>
                      <p:childTnLst>
                        <p:par>
                          <p:cTn fill="hold" id="1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1"/>
                                        <p:tgtEl>
                                          <p:spTgt spid="10487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22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4"/>
                                        <p:tgtEl>
                                          <p:spTgt spid="10487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25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7"/>
                                        <p:tgtEl>
                                          <p:spTgt spid="10487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28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30"/>
                                        <p:tgtEl>
                                          <p:spTgt spid="10487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31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33"/>
                                        <p:tgtEl>
                                          <p:spTgt spid="10487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Implementing Privileges   </a:t>
            </a:r>
          </a:p>
        </p:txBody>
      </p:sp>
      <p:pic>
        <p:nvPicPr>
          <p:cNvPr id="2097159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94223" y="2189163"/>
            <a:ext cx="6201373" cy="3633787"/>
          </a:xfrm>
        </p:spPr>
      </p:pic>
    </p:spTree>
  </p:cSld>
  <p:clrMapOvr>
    <a:masterClrMapping/>
  </p:clrMapOvr>
  <p:transition spd="slow">
    <p:sndAc>
      <p:stSnd>
        <p:snd r:embed="rId2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457200"/>
            <a:ext cx="2777490" cy="9499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39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6031610" y="453643"/>
            <a:ext cx="2777490" cy="98554"/>
          </a:xfrm>
          <a:prstGeom prst="rect"/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40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181372" y="457200"/>
            <a:ext cx="2777490" cy="91440"/>
          </a:xfrm>
          <a:prstGeom prst="rect"/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41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3085764"/>
            <a:ext cx="8474199" cy="3338149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 useBgFill="1">
        <p:nvSpPr>
          <p:cNvPr id="1048742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grpSp>
        <p:nvGrpSpPr>
          <p:cNvPr id="81" name="Group 19"/>
          <p:cNvGrpSpPr>
            <a:grpSpLocks noMove="1" noResize="1" noRot="1" noGrp="1" noChangeAspect="1"/>
          </p:cNvGrpSpPr>
          <p:nvPr/>
        </p:nvGrpSpPr>
        <p:grpSpPr>
          <a:xfrm>
            <a:off x="328551" y="457200"/>
            <a:ext cx="2777491" cy="5935133"/>
            <a:chOff x="438068" y="457200"/>
            <a:chExt cx="3703320" cy="5935133"/>
          </a:xfrm>
        </p:grpSpPr>
        <p:sp>
          <p:nvSpPr>
            <p:cNvPr id="1048743" name="Rectangle 20"/>
            <p:cNvSpPr/>
            <p:nvPr/>
          </p:nvSpPr>
          <p:spPr>
            <a:xfrm>
              <a:off x="438068" y="601201"/>
              <a:ext cx="3702134" cy="5791132"/>
            </a:xfrm>
            <a:prstGeom prst="rect"/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US"/>
            </a:p>
          </p:txBody>
        </p:sp>
        <p:sp>
          <p:nvSpPr>
            <p:cNvPr id="1048744" name="Rectangle 21"/>
            <p:cNvSpPr/>
            <p:nvPr/>
          </p:nvSpPr>
          <p:spPr>
            <a:xfrm>
              <a:off x="438068" y="457200"/>
              <a:ext cx="3703320" cy="94997"/>
            </a:xfrm>
            <a:prstGeom prst="rect"/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US"/>
            </a:p>
          </p:txBody>
        </p:sp>
      </p:grpSp>
      <p:sp>
        <p:nvSpPr>
          <p:cNvPr id="1048745" name="Title 1"/>
          <p:cNvSpPr>
            <a:spLocks noGrp="1"/>
          </p:cNvSpPr>
          <p:nvPr>
            <p:ph type="title"/>
          </p:nvPr>
        </p:nvSpPr>
        <p:spPr>
          <a:xfrm>
            <a:off x="438150" y="1524001"/>
            <a:ext cx="2559050" cy="3478384"/>
          </a:xfrm>
        </p:spPr>
        <p:txBody>
          <a:bodyPr anchor="b" bIns="45720" lIns="91440" rIns="91440" rtlCol="0" tIns="45720" vert="horz">
            <a:normAutofit/>
          </a:bodyPr>
          <a:p>
            <a:pPr defTabSz="457200"/>
            <a:r>
              <a:rPr sz="3300" lang="en-US">
                <a:solidFill>
                  <a:srgbClr val="FFFFFF"/>
                </a:solidFill>
              </a:rPr>
              <a:t>PRIVILAGES</a:t>
            </a:r>
          </a:p>
        </p:txBody>
      </p:sp>
      <p:pic>
        <p:nvPicPr>
          <p:cNvPr id="2097160" name="Content Placeholder 4" descr="Graphical user interface, text, application  Description automatically generated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573789" y="1784873"/>
            <a:ext cx="5073648" cy="3264545"/>
          </a:xfrm>
          <a:prstGeom prst="rect"/>
        </p:spPr>
      </p:pic>
    </p:spTree>
  </p:cSld>
  <p:clrMapOvr>
    <a:masterClrMapping/>
  </p:clrMapOvr>
  <p:transition spd="slow">
    <p:sndAc>
      <p:stSnd>
        <p:snd r:embed="rId2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457200"/>
            <a:ext cx="2777490" cy="9499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47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6031610" y="453643"/>
            <a:ext cx="2777490" cy="98554"/>
          </a:xfrm>
          <a:prstGeom prst="rect"/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48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181372" y="457200"/>
            <a:ext cx="2777490" cy="91440"/>
          </a:xfrm>
          <a:prstGeom prst="rect"/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49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3085764"/>
            <a:ext cx="8474199" cy="3338149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 useBgFill="1">
        <p:nvSpPr>
          <p:cNvPr id="1048750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61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35425" y="1187400"/>
            <a:ext cx="8476488" cy="2057215"/>
          </a:xfrm>
          <a:prstGeom prst="rect"/>
        </p:spPr>
      </p:pic>
      <p:sp>
        <p:nvSpPr>
          <p:cNvPr id="1048751" name="Rectangle 1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5425" y="4219240"/>
            <a:ext cx="8476488" cy="9499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52" name="Rectangle 2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5425" y="4365523"/>
            <a:ext cx="8477720" cy="2045243"/>
          </a:xfrm>
          <a:prstGeom prst="rect"/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457199" y="4572000"/>
            <a:ext cx="8223856" cy="895244"/>
          </a:xfrm>
        </p:spPr>
        <p:txBody>
          <a:bodyPr anchor="b" bIns="45720" lIns="91440" rIns="91440" rtlCol="0" tIns="45720" vert="horz">
            <a:normAutofit/>
          </a:bodyPr>
          <a:p>
            <a:pPr defTabSz="457200"/>
            <a:r>
              <a:rPr dirty="0" sz="3500" lang="ar-EG">
                <a:solidFill>
                  <a:srgbClr val="FFFFFF"/>
                </a:solidFill>
              </a:rPr>
              <a:t>_</a:t>
            </a:r>
            <a:r>
              <a:rPr dirty="0" sz="3500" lang="en-US">
                <a:solidFill>
                  <a:srgbClr val="FFFFFF"/>
                </a:solidFill>
              </a:rPr>
              <a:t>user</a:t>
            </a:r>
          </a:p>
        </p:txBody>
      </p:sp>
    </p:spTree>
  </p:cSld>
  <p:clrMapOvr>
    <a:masterClrMapping/>
  </p:clrMapOvr>
  <p:transition spd="slow">
    <p:sndAc>
      <p:stSnd>
        <p:snd r:embed="rId2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457200"/>
            <a:ext cx="2777490" cy="9499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55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6031610" y="453643"/>
            <a:ext cx="2777490" cy="98554"/>
          </a:xfrm>
          <a:prstGeom prst="rect"/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56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181372" y="457200"/>
            <a:ext cx="2777490" cy="91440"/>
          </a:xfrm>
          <a:prstGeom prst="rect"/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757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3085764"/>
            <a:ext cx="8474199" cy="3338149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 useBgFill="1">
        <p:nvSpPr>
          <p:cNvPr id="1048758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grpSp>
        <p:nvGrpSpPr>
          <p:cNvPr id="84" name="Group 19"/>
          <p:cNvGrpSpPr>
            <a:grpSpLocks noMove="1" noResize="1" noRot="1" noGrp="1" noChangeAspect="1"/>
          </p:cNvGrpSpPr>
          <p:nvPr/>
        </p:nvGrpSpPr>
        <p:grpSpPr>
          <a:xfrm>
            <a:off x="328551" y="457200"/>
            <a:ext cx="2777491" cy="5935133"/>
            <a:chOff x="438068" y="457200"/>
            <a:chExt cx="3703320" cy="5935133"/>
          </a:xfrm>
        </p:grpSpPr>
        <p:sp>
          <p:nvSpPr>
            <p:cNvPr id="1048759" name="Rectangle 20"/>
            <p:cNvSpPr/>
            <p:nvPr/>
          </p:nvSpPr>
          <p:spPr>
            <a:xfrm>
              <a:off x="438068" y="601201"/>
              <a:ext cx="3702134" cy="5791132"/>
            </a:xfrm>
            <a:prstGeom prst="rect"/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US"/>
            </a:p>
          </p:txBody>
        </p:sp>
        <p:sp>
          <p:nvSpPr>
            <p:cNvPr id="1048760" name="Rectangle 21"/>
            <p:cNvSpPr/>
            <p:nvPr/>
          </p:nvSpPr>
          <p:spPr>
            <a:xfrm>
              <a:off x="438068" y="457200"/>
              <a:ext cx="3703320" cy="94997"/>
            </a:xfrm>
            <a:prstGeom prst="rect"/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US"/>
            </a:p>
          </p:txBody>
        </p:sp>
      </p:grpSp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438150" y="1524001"/>
            <a:ext cx="2559050" cy="595744"/>
          </a:xfrm>
        </p:spPr>
        <p:txBody>
          <a:bodyPr anchor="b" bIns="45720" lIns="91440" rIns="91440" rtlCol="0" tIns="45720" vert="horz">
            <a:normAutofit/>
          </a:bodyPr>
          <a:p>
            <a:pPr defTabSz="457200"/>
            <a:r>
              <a:rPr dirty="0" sz="2000" lang="en-US">
                <a:solidFill>
                  <a:srgbClr val="FFFFFF"/>
                </a:solidFill>
              </a:rPr>
              <a:t>USER_PRIVLAGES</a:t>
            </a:r>
          </a:p>
        </p:txBody>
      </p:sp>
      <p:pic>
        <p:nvPicPr>
          <p:cNvPr id="2097162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573789" y="902190"/>
            <a:ext cx="5073648" cy="5029911"/>
          </a:xfrm>
          <a:prstGeom prst="rect"/>
        </p:spPr>
      </p:pic>
    </p:spTree>
  </p:cSld>
  <p:clrMapOvr>
    <a:masterClrMapping/>
  </p:clrMapOvr>
  <p:transition spd="slow">
    <p:sndAc>
      <p:stSnd>
        <p:snd r:embed="rId2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487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sz="2000" lang="en-US"/>
              <a:t>Can you obtain ACL and c-list </a:t>
            </a:r>
            <a:r>
              <a:rPr sz="2000" lang="en-US"/>
              <a:t>from Database?</a:t>
            </a:r>
            <a:endParaRPr dirty="0" sz="2000" lang="en-US"/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981200"/>
            <a:ext cx="7772400" cy="1143000"/>
          </a:xfrm>
        </p:spPr>
        <p:txBody>
          <a:bodyPr/>
          <a:p>
            <a:pPr eaLnBrk="1" hangingPunct="1"/>
            <a:r>
              <a:rPr altLang="en-US" lang="en-US"/>
              <a:t>CAPTCHA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Turing Test</a:t>
            </a:r>
          </a:p>
        </p:txBody>
      </p:sp>
      <p:sp>
        <p:nvSpPr>
          <p:cNvPr id="10487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9286" lnSpcReduction="20000"/>
          </a:bodyPr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Proposed by Alan Turing in 1950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Human asks questions to one other human and one computer (without seeing either)</a:t>
            </a:r>
          </a:p>
          <a:p>
            <a:pPr>
              <a:lnSpc>
                <a:spcPct val="90000"/>
              </a:lnSpc>
            </a:pPr>
            <a:r>
              <a:rPr dirty="0" sz="2800" lang="en-US"/>
              <a:t>The goal is to distinguish the human from the computer </a:t>
            </a:r>
            <a:endParaRPr altLang="en-US" dirty="0" sz="2800" lang="en-US"/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If human questioner cannot distinguish the human from the computer responder, the computer passes the test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No computer can pass this today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pPr eaLnBrk="1" hangingPunct="1"/>
            <a:r>
              <a:rPr altLang="en-US" lang="en-US"/>
              <a:t>CAPTCHA</a:t>
            </a:r>
          </a:p>
        </p:txBody>
      </p:sp>
      <p:sp>
        <p:nvSpPr>
          <p:cNvPr id="10487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44196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hlink"/>
                </a:solidFill>
              </a:rPr>
              <a:t>CAPTCHA</a:t>
            </a:r>
            <a:r>
              <a:rPr altLang="en-US" b="1" dirty="0" sz="2800" lang="en-US">
                <a:solidFill>
                  <a:schemeClr val="accent2"/>
                </a:solidFill>
              </a:rPr>
              <a:t>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</a:t>
            </a:r>
            <a:r>
              <a:rPr altLang="en-US" b="1" dirty="0" sz="2800" lang="en-US">
                <a:solidFill>
                  <a:schemeClr val="hlink"/>
                </a:solidFill>
              </a:rPr>
              <a:t>C</a:t>
            </a:r>
            <a:r>
              <a:rPr altLang="en-US" dirty="0" sz="2800" lang="en-US"/>
              <a:t>ompletely </a:t>
            </a:r>
            <a:r>
              <a:rPr altLang="en-US" b="1" dirty="0" sz="2800" lang="en-US">
                <a:solidFill>
                  <a:schemeClr val="hlink"/>
                </a:solidFill>
              </a:rPr>
              <a:t>A</a:t>
            </a:r>
            <a:r>
              <a:rPr altLang="en-US" dirty="0" sz="2800" lang="en-US"/>
              <a:t>utomated </a:t>
            </a:r>
            <a:r>
              <a:rPr altLang="en-US" b="1" dirty="0" sz="2800" lang="en-US">
                <a:solidFill>
                  <a:schemeClr val="hlink"/>
                </a:solidFill>
              </a:rPr>
              <a:t>P</a:t>
            </a:r>
            <a:r>
              <a:rPr altLang="en-US" dirty="0" sz="2800" lang="en-US"/>
              <a:t>ublic </a:t>
            </a:r>
            <a:r>
              <a:rPr altLang="en-US" b="1" dirty="0" sz="2800" lang="en-US">
                <a:solidFill>
                  <a:schemeClr val="hlink"/>
                </a:solidFill>
              </a:rPr>
              <a:t>T</a:t>
            </a:r>
            <a:r>
              <a:rPr altLang="en-US" dirty="0" sz="2800" lang="en-US"/>
              <a:t>uring test to tell </a:t>
            </a:r>
            <a:r>
              <a:rPr altLang="en-US" b="1" dirty="0" sz="2800" lang="en-US">
                <a:solidFill>
                  <a:schemeClr val="hlink"/>
                </a:solidFill>
              </a:rPr>
              <a:t>C</a:t>
            </a:r>
            <a:r>
              <a:rPr altLang="en-US" dirty="0" sz="2800" lang="en-US"/>
              <a:t>omputers and </a:t>
            </a:r>
            <a:r>
              <a:rPr altLang="en-US" b="1" dirty="0" sz="2800" lang="en-US">
                <a:solidFill>
                  <a:schemeClr val="hlink"/>
                </a:solidFill>
              </a:rPr>
              <a:t>H</a:t>
            </a:r>
            <a:r>
              <a:rPr altLang="en-US" dirty="0" sz="2800" lang="en-US"/>
              <a:t>umans </a:t>
            </a:r>
            <a:r>
              <a:rPr altLang="en-US" b="1" dirty="0" sz="2800" lang="en-US">
                <a:solidFill>
                  <a:schemeClr val="hlink"/>
                </a:solidFill>
              </a:rPr>
              <a:t>A</a:t>
            </a:r>
            <a:r>
              <a:rPr altLang="en-US" dirty="0" sz="2800" lang="en-US"/>
              <a:t>part</a:t>
            </a:r>
          </a:p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hlink"/>
                </a:solidFill>
              </a:rPr>
              <a:t>A</a:t>
            </a:r>
            <a:r>
              <a:rPr altLang="en-US" dirty="0" sz="2800" lang="en-US"/>
              <a:t>utomated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test is generated and scored by a computer program</a:t>
            </a:r>
          </a:p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hlink"/>
                </a:solidFill>
              </a:rPr>
              <a:t>P</a:t>
            </a:r>
            <a:r>
              <a:rPr altLang="en-US" dirty="0" sz="2800" lang="en-US"/>
              <a:t>ublic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program and data are public</a:t>
            </a:r>
          </a:p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hlink"/>
                </a:solidFill>
              </a:rPr>
              <a:t>T</a:t>
            </a:r>
            <a:r>
              <a:rPr altLang="en-US" dirty="0" sz="2800" lang="en-US"/>
              <a:t>uring test to tell…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humans can pass the test, but machines cannot pass the test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Why we need it ?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CAPTCHA Paradox</a:t>
            </a:r>
          </a:p>
        </p:txBody>
      </p:sp>
      <p:sp>
        <p:nvSpPr>
          <p:cNvPr id="1048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857" lnSpcReduction="10000"/>
          </a:bodyPr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“…CAPTCHA is a program that can generate and grade tests that it itself cannot pass…”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“…much like some professors…”   </a:t>
            </a:r>
            <a:r>
              <a:rPr altLang="en-US" dirty="0" sz="4400" lang="en-US">
                <a:solidFill>
                  <a:srgbClr val="FF0000"/>
                </a:solidFill>
              </a:rPr>
              <a:t>LOL</a:t>
            </a:r>
            <a:endParaRPr altLang="en-US" dirty="0" sz="2800" lang="en-US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Paradox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computer creates and scores test that it cannot pass!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CAPTCHA used to restrict access to resources to humans (no computers)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CAPTCHA useful for </a:t>
            </a:r>
            <a:r>
              <a:rPr altLang="en-US" b="1" dirty="0" sz="2800" lang="en-US">
                <a:solidFill>
                  <a:schemeClr val="accent2"/>
                </a:solidFill>
              </a:rPr>
              <a:t>access control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7"/>
                                        <p:tgtEl>
                                          <p:spTgt spid="104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2"/>
                                        <p:tgtEl>
                                          <p:spTgt spid="1048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17"/>
                                        <p:tgtEl>
                                          <p:spTgt spid="1048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 nodeType="clickPar">
                      <p:stCondLst>
                        <p:cond delay="indefinite"/>
                      </p:stCondLst>
                      <p:childTnLst>
                        <p:par>
                          <p:cTn fill="hold" id="1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0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2"/>
                                        <p:tgtEl>
                                          <p:spTgt spid="1048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 nodeType="clickPar">
                      <p:stCondLst>
                        <p:cond delay="indefinite"/>
                      </p:stCondLst>
                      <p:childTnLst>
                        <p:par>
                          <p:cTn fill="hold" id="2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5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27"/>
                                        <p:tgtEl>
                                          <p:spTgt spid="1048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0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35894" y="719409"/>
            <a:ext cx="8272212" cy="1188720"/>
          </a:xfrm>
        </p:spPr>
        <p:txBody>
          <a:bodyPr/>
          <a:p>
            <a:pPr eaLnBrk="1" hangingPunct="1"/>
            <a:r>
              <a:rPr altLang="en-US" lang="en-US"/>
              <a:t>CAPTCHA Uses?</a:t>
            </a:r>
          </a:p>
        </p:txBody>
      </p:sp>
      <p:sp>
        <p:nvSpPr>
          <p:cNvPr id="1048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46053"/>
            <a:ext cx="8153400" cy="43434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Original motivation: automated “bots” to vote for best CS school !!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Free email services </a:t>
            </a:r>
            <a:r>
              <a:rPr altLang="en-US" dirty="0" sz="2800" lang="en-US">
                <a:sym typeface="Symbol" panose="05050102010706020507" pitchFamily="18" charset="2"/>
              </a:rPr>
              <a:t></a:t>
            </a:r>
            <a:r>
              <a:rPr altLang="en-US" dirty="0" sz="2800" lang="en-US"/>
              <a:t> spammers used bots sign up for 1000’s of email accounts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CAPTCHA employed so only humans can get accts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Sites that do not want to be automatically indexed by search engines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HTML tag only says “please do not index me” 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CAPTCHA would force human intervention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 nodeType="clickPar">
                      <p:stCondLst>
                        <p:cond delay="indefinite"/>
                      </p:stCondLst>
                      <p:childTnLst>
                        <p:par>
                          <p:cTn fill="hold" id="10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15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7"/>
                                        <p:tgtEl>
                                          <p:spTgt spid="104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 nodeType="clickPar">
                      <p:stCondLst>
                        <p:cond delay="indefinite"/>
                      </p:stCondLst>
                      <p:childTnLst>
                        <p:par>
                          <p:cTn fill="hold" id="20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1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3"/>
                                        <p:tgtEl>
                                          <p:spTgt spid="104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4"/>
                                        <p:tgtEl>
                                          <p:spTgt spid="104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25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1048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8"/>
                                        <p:tgtEl>
                                          <p:spTgt spid="1048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29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2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001000" cy="1219200"/>
          </a:xfrm>
        </p:spPr>
        <p:txBody>
          <a:bodyPr/>
          <a:p>
            <a:pPr eaLnBrk="1" hangingPunct="1"/>
            <a:r>
              <a:rPr altLang="en-US" lang="en-US"/>
              <a:t>CAPTCHA: Rules of the Game</a:t>
            </a:r>
          </a:p>
        </p:txBody>
      </p:sp>
      <p:sp>
        <p:nvSpPr>
          <p:cNvPr id="1048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848600" cy="42672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Must be easy for most humans to pass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Must be difficult or impossible for machines to pass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Desirable to have different CAPTCHAs in case some person cannot pass one type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Blind person could not pass visual test, etc.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"/>
                                        <p:tgtEl>
                                          <p:spTgt spid="1048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2"/>
                                        <p:tgtEl>
                                          <p:spTgt spid="1048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7"/>
                                        <p:tgtEl>
                                          <p:spTgt spid="1048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8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0"/>
                                        <p:tgtEl>
                                          <p:spTgt spid="1048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4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pPr eaLnBrk="1" hangingPunct="1"/>
            <a:r>
              <a:rPr altLang="en-US" lang="en-US"/>
              <a:t>Do CAPTCHAs Exist?</a:t>
            </a:r>
          </a:p>
        </p:txBody>
      </p:sp>
      <p:sp>
        <p:nvSpPr>
          <p:cNvPr id="104877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685800"/>
          </a:xfrm>
          <a:noFill/>
        </p:spPr>
        <p:txBody>
          <a:bodyPr>
            <a:normAutofit/>
          </a:bodyPr>
          <a:p>
            <a:pPr eaLnBrk="1" hangingPunct="1">
              <a:lnSpc>
                <a:spcPct val="90000"/>
              </a:lnSpc>
            </a:pPr>
            <a:r>
              <a:rPr altLang="en-US" dirty="0" sz="2000" lang="en-US"/>
              <a:t>Test: Find 2 words in the following</a:t>
            </a:r>
          </a:p>
        </p:txBody>
      </p:sp>
      <p:sp>
        <p:nvSpPr>
          <p:cNvPr id="1048777" name="Rectangle 7"/>
          <p:cNvSpPr>
            <a:spLocks noChangeArrowheads="1"/>
          </p:cNvSpPr>
          <p:nvPr/>
        </p:nvSpPr>
        <p:spPr bwMode="auto">
          <a:xfrm>
            <a:off x="685800" y="4953000"/>
            <a:ext cx="8001000" cy="1219200"/>
          </a:xfrm>
          <a:prstGeom prst="rect"/>
          <a:noFill/>
          <a:ln>
            <a:noFill/>
          </a:ln>
        </p:spPr>
        <p:txBody>
          <a:bodyPr/>
          <a:lstStyle>
            <a:lvl1pPr eaLnBrk="0" hangingPunct="0" indent="-342900" marL="3429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</a:pPr>
            <a:r>
              <a:rPr altLang="en-US" sz="3200" lang="en-US"/>
              <a:t>Easy for most humans</a:t>
            </a:r>
          </a:p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</a:pPr>
            <a:r>
              <a:rPr altLang="en-US" sz="3200" lang="en-US"/>
              <a:t>Difficult for computers (OCR problem)</a:t>
            </a:r>
          </a:p>
        </p:txBody>
      </p:sp>
      <p:pic>
        <p:nvPicPr>
          <p:cNvPr id="2097163" name="Picture 10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524000" y="2286000"/>
            <a:ext cx="4687888" cy="2605088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>
    <p:sndAc>
      <p:stSnd>
        <p:snd r:embed="rId2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"/>
                                        <p:tgtEl>
                                          <p:spTgt spid="1048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2"/>
                                        <p:tgtEl>
                                          <p:spTgt spid="104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6" grpId="0" build="p" autoUpdateAnimBg="0"/>
      <p:bldP spid="104877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CAPTCHAs</a:t>
            </a:r>
          </a:p>
        </p:txBody>
      </p:sp>
      <p:sp>
        <p:nvSpPr>
          <p:cNvPr id="1048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p>
            <a:pPr eaLnBrk="1" hangingPunct="1"/>
            <a:r>
              <a:rPr altLang="en-US" dirty="0" sz="2800" lang="en-US"/>
              <a:t>Current types of CAPTCHAs</a:t>
            </a:r>
          </a:p>
          <a:p>
            <a:pPr eaLnBrk="1" hangingPunct="1" lvl="1"/>
            <a:r>
              <a:rPr altLang="en-US" dirty="0" sz="2400" lang="en-US"/>
              <a:t>Visual</a:t>
            </a:r>
          </a:p>
          <a:p>
            <a:pPr eaLnBrk="1" hangingPunct="1" lvl="2"/>
            <a:r>
              <a:rPr altLang="en-US" dirty="0" sz="2000" lang="en-US"/>
              <a:t>Like previous example</a:t>
            </a:r>
          </a:p>
          <a:p>
            <a:pPr eaLnBrk="1" hangingPunct="1" lvl="2"/>
            <a:r>
              <a:rPr altLang="en-US" dirty="0" sz="2000" lang="en-US"/>
              <a:t>Many others</a:t>
            </a:r>
          </a:p>
          <a:p>
            <a:pPr eaLnBrk="1" hangingPunct="1" lvl="1"/>
            <a:r>
              <a:rPr altLang="en-US" dirty="0" sz="2400" lang="en-US"/>
              <a:t>Audio</a:t>
            </a:r>
          </a:p>
          <a:p>
            <a:pPr eaLnBrk="1" hangingPunct="1" lvl="2"/>
            <a:r>
              <a:rPr altLang="en-US" dirty="0" sz="2000" lang="en-US"/>
              <a:t>Distorted words or music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p>
            <a:pPr eaLnBrk="1" hangingPunct="1"/>
            <a:r>
              <a:rPr altLang="en-US" lang="en-US"/>
              <a:t>CAPTCHA’s and AI</a:t>
            </a:r>
          </a:p>
        </p:txBody>
      </p:sp>
      <p:sp>
        <p:nvSpPr>
          <p:cNvPr id="1048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196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sz="2800" lang="en-US"/>
              <a:t>Computer recognition of distorted text is a challenging AI problem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sz="2400" lang="en-US"/>
              <a:t>But humans can solve this problem </a:t>
            </a:r>
          </a:p>
          <a:p>
            <a:pPr eaLnBrk="1" hangingPunct="1">
              <a:lnSpc>
                <a:spcPct val="90000"/>
              </a:lnSpc>
            </a:pPr>
            <a:r>
              <a:rPr altLang="en-US" sz="2800" lang="en-US"/>
              <a:t>Same is true of distorted sound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sz="2400" lang="en-US"/>
              <a:t>Humans also good at solving this</a:t>
            </a:r>
          </a:p>
          <a:p>
            <a:pPr eaLnBrk="1" hangingPunct="1">
              <a:lnSpc>
                <a:spcPct val="90000"/>
              </a:lnSpc>
            </a:pPr>
            <a:r>
              <a:rPr altLang="en-US" sz="2800" lang="en-US"/>
              <a:t>Hackers who break such a CAPTCHA have solved a hard AI problem</a:t>
            </a:r>
          </a:p>
          <a:p>
            <a:pPr eaLnBrk="1" hangingPunct="1">
              <a:lnSpc>
                <a:spcPct val="90000"/>
              </a:lnSpc>
            </a:pPr>
            <a:r>
              <a:rPr altLang="en-US" sz="2800" lang="en-US"/>
              <a:t>Putting hacker’s effort to good use!</a:t>
            </a:r>
          </a:p>
          <a:p>
            <a:pPr eaLnBrk="1" hangingPunct="1">
              <a:lnSpc>
                <a:spcPct val="90000"/>
              </a:lnSpc>
            </a:pPr>
            <a:r>
              <a:rPr altLang="en-US" sz="2800" lang="en-US"/>
              <a:t>May be other ways to defeat CAPTCHAs…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638708"/>
          </a:xfrm>
        </p:spPr>
        <p:txBody>
          <a:bodyPr/>
          <a:p>
            <a:r>
              <a:rPr b="1" dirty="0" lang="en-US"/>
              <a:t>Beyond the 1950s: The Modern Context</a:t>
            </a:r>
            <a:br>
              <a:rPr b="1" dirty="0" lang="en-US"/>
            </a:br>
            <a:r>
              <a:rPr b="1" dirty="0" lang="en-US"/>
              <a:t>Is the Turing Test Still "Unpassable"?</a:t>
            </a:r>
            <a:br>
              <a:rPr dirty="0" lang="en-US"/>
            </a:br>
            <a:endParaRPr dirty="0" lang="en-US"/>
          </a:p>
        </p:txBody>
      </p:sp>
      <p:sp>
        <p:nvSpPr>
          <p:cNvPr id="10487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sz="2000" lang="en-US"/>
              <a:t>The Reality Shift: While the original slide says "No computer can pass," modern Large Language Models (LLMs) have blurred this line.</a:t>
            </a:r>
          </a:p>
          <a:p>
            <a:r>
              <a:rPr dirty="0" sz="2000" lang="en-US"/>
              <a:t>The Goal Change: We are no longer asking "Can a machine talk?" but "Can a machine reason?"</a:t>
            </a:r>
          </a:p>
          <a:p>
            <a:r>
              <a:rPr dirty="0" sz="2000" lang="en-US"/>
              <a:t>Key Example: * Old AI (ELIZA): Could only parrot back phrases.</a:t>
            </a:r>
          </a:p>
          <a:p>
            <a:r>
              <a:rPr dirty="0" sz="2000" lang="en-US"/>
              <a:t>Modern AI: Can explain a complex SQL join or write a poem in the style of a specific author, making it nearly indistinguishable from a human in a chat.</a:t>
            </a:r>
            <a:endParaRPr dirty="0" sz="2000" lang="ar-EG"/>
          </a:p>
          <a:p>
            <a:r>
              <a:rPr dirty="0" sz="2000" lang="en-US"/>
              <a:t>Chatting to solve problems !!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Current Milestones (2024-2026)</a:t>
            </a:r>
            <a:br>
              <a:rPr dirty="0" lang="ar-EG"/>
            </a:br>
            <a:r>
              <a:rPr dirty="0" lang="en-US"/>
              <a:t>Passing the "Blind Test" in Everyday Life</a:t>
            </a:r>
          </a:p>
        </p:txBody>
      </p:sp>
      <p:sp>
        <p:nvSpPr>
          <p:cNvPr id="104878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dirty="0" sz="2400" lang="en-US"/>
              <a:t>Natural Conversations: AI now handles nuances like sarcasm, cultural slang, and emotional empathy.</a:t>
            </a:r>
          </a:p>
          <a:p>
            <a:r>
              <a:rPr dirty="0" sz="2400" lang="en-US"/>
              <a:t>Case Study: Google Duplex &amp; Virtual Assistants</a:t>
            </a:r>
          </a:p>
          <a:p>
            <a:pPr lvl="1"/>
            <a:r>
              <a:rPr dirty="0" sz="1800" lang="en-US"/>
              <a:t>Example: An AI calling a hair salon to book an appointment. The receptionist doesn't realize they are talking to a bot because the AI adds "</a:t>
            </a:r>
            <a:r>
              <a:rPr dirty="0" sz="1800" lang="en-US" err="1"/>
              <a:t>umms</a:t>
            </a:r>
            <a:r>
              <a:rPr dirty="0" sz="1800" lang="en-US"/>
              <a:t>" and "</a:t>
            </a:r>
            <a:r>
              <a:rPr dirty="0" sz="1800" lang="en-US" err="1"/>
              <a:t>ahhs</a:t>
            </a:r>
            <a:r>
              <a:rPr dirty="0" sz="1800" lang="en-US"/>
              <a:t>" to sound human.</a:t>
            </a:r>
          </a:p>
          <a:p>
            <a:r>
              <a:rPr dirty="0" sz="2400" lang="en-US"/>
              <a:t>Professional Domains: AI passing Bar Exams (Law) and Medical Licensing Exams with scores higher than 90% of humans.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en-US"/>
              <a:t>The Future: A New "Turing Test"?</a:t>
            </a:r>
            <a:br>
              <a:rPr b="1" dirty="0" lang="en-US"/>
            </a:br>
            <a:r>
              <a:rPr b="1" dirty="0" lang="en-US"/>
              <a:t>Headline: Moving Toward AGI (Artificial General Intelligence)</a:t>
            </a:r>
            <a:br>
              <a:rPr dirty="0" lang="en-US"/>
            </a:br>
            <a:endParaRPr dirty="0" lang="en-US"/>
          </a:p>
        </p:txBody>
      </p:sp>
      <p:sp>
        <p:nvSpPr>
          <p:cNvPr id="1048787" name="Content Placeholder 2"/>
          <p:cNvSpPr>
            <a:spLocks noGrp="1"/>
          </p:cNvSpPr>
          <p:nvPr>
            <p:ph idx="1"/>
          </p:nvPr>
        </p:nvSpPr>
        <p:spPr>
          <a:xfrm>
            <a:off x="435895" y="2306358"/>
            <a:ext cx="8272211" cy="3634486"/>
          </a:xfrm>
        </p:spPr>
        <p:txBody>
          <a:bodyPr>
            <a:normAutofit/>
          </a:bodyPr>
          <a:p>
            <a:r>
              <a:rPr dirty="0" sz="2000" lang="en-US"/>
              <a:t>Visual &amp; Physical Turing Test: Can a humanoid robot move and react in a crowded room without being identified as a machine?</a:t>
            </a:r>
          </a:p>
          <a:p>
            <a:r>
              <a:rPr dirty="0" sz="2000" lang="en-US"/>
              <a:t>The Multimodal Test:</a:t>
            </a:r>
          </a:p>
          <a:p>
            <a:pPr lvl="1"/>
            <a:r>
              <a:rPr dirty="0" sz="1775" lang="en-US"/>
              <a:t>Current AI: Can "see" an image, "hear" your voice, and "write" code simultaneously.</a:t>
            </a:r>
          </a:p>
          <a:p>
            <a:r>
              <a:rPr dirty="0" sz="2000" lang="en-US"/>
              <a:t>The Ultimate Question for Students:</a:t>
            </a:r>
          </a:p>
          <a:p>
            <a:pPr lvl="1"/>
            <a:r>
              <a:rPr dirty="0" sz="1775" lang="en-US"/>
              <a:t>If a machine helps you develop a system like "Dahab" or "Control Lite" from scratch, does it matter if it has a "soul" as long as the logic is flawless?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524000"/>
          </a:xfrm>
        </p:spPr>
        <p:txBody>
          <a:bodyPr/>
          <a:p>
            <a:pPr eaLnBrk="1" hangingPunct="1"/>
            <a:r>
              <a:rPr altLang="en-US" lang="en-US"/>
              <a:t>Firewalls</a:t>
            </a:r>
          </a:p>
        </p:txBody>
      </p:sp>
      <p:pic>
        <p:nvPicPr>
          <p:cNvPr id="2097164" name="Picture 6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3238500" y="2133600"/>
            <a:ext cx="3086100" cy="34798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>
    <p:sndAc>
      <p:stSnd>
        <p:snd r:embed="rId2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Firewalls</a:t>
            </a:r>
          </a:p>
        </p:txBody>
      </p:sp>
      <p:sp>
        <p:nvSpPr>
          <p:cNvPr id="10487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0"/>
            <a:ext cx="7772400" cy="15240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Firewall must determine what to let into internal network and/or what to let out</a:t>
            </a:r>
          </a:p>
          <a:p>
            <a:pPr eaLnBrk="1" hangingPunct="1">
              <a:lnSpc>
                <a:spcPct val="90000"/>
              </a:lnSpc>
            </a:pPr>
            <a:r>
              <a:rPr altLang="en-US" b="1" dirty="0" sz="2800" lang="en-US">
                <a:solidFill>
                  <a:schemeClr val="accent2"/>
                </a:solidFill>
              </a:rPr>
              <a:t>Access control</a:t>
            </a:r>
            <a:r>
              <a:rPr altLang="en-US" dirty="0" sz="2800" lang="en-US"/>
              <a:t> for the network</a:t>
            </a:r>
          </a:p>
        </p:txBody>
      </p:sp>
      <p:sp>
        <p:nvSpPr>
          <p:cNvPr id="1048791" name="Rectangle 10"/>
          <p:cNvSpPr>
            <a:spLocks noChangeArrowheads="1"/>
          </p:cNvSpPr>
          <p:nvPr/>
        </p:nvSpPr>
        <p:spPr bwMode="auto">
          <a:xfrm>
            <a:off x="1143000" y="3673475"/>
            <a:ext cx="1436688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Internet</a:t>
            </a:r>
          </a:p>
        </p:txBody>
      </p:sp>
      <p:sp>
        <p:nvSpPr>
          <p:cNvPr id="1048792" name="Rectangle 11"/>
          <p:cNvSpPr>
            <a:spLocks noChangeArrowheads="1"/>
          </p:cNvSpPr>
          <p:nvPr/>
        </p:nvSpPr>
        <p:spPr bwMode="auto">
          <a:xfrm>
            <a:off x="6781800" y="3486150"/>
            <a:ext cx="1366838" cy="857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altLang="en-US" lang="en-US"/>
              <a:t>Internal</a:t>
            </a:r>
          </a:p>
          <a:p>
            <a:pPr eaLnBrk="1" hangingPunct="1">
              <a:lnSpc>
                <a:spcPct val="90000"/>
              </a:lnSpc>
            </a:pPr>
            <a:r>
              <a:rPr altLang="en-US" lang="en-US"/>
              <a:t>network</a:t>
            </a:r>
          </a:p>
        </p:txBody>
      </p:sp>
      <p:sp>
        <p:nvSpPr>
          <p:cNvPr id="1048793" name="Rectangle 12"/>
          <p:cNvSpPr>
            <a:spLocks noChangeArrowheads="1"/>
          </p:cNvSpPr>
          <p:nvPr/>
        </p:nvSpPr>
        <p:spPr bwMode="auto">
          <a:xfrm>
            <a:off x="4041775" y="3733800"/>
            <a:ext cx="1300163" cy="517525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lang="en-US"/>
              <a:t>Firewall</a:t>
            </a:r>
          </a:p>
        </p:txBody>
      </p:sp>
      <p:sp>
        <p:nvSpPr>
          <p:cNvPr id="1048794" name="Line 13"/>
          <p:cNvSpPr>
            <a:spLocks noChangeShapeType="1"/>
          </p:cNvSpPr>
          <p:nvPr/>
        </p:nvSpPr>
        <p:spPr bwMode="auto">
          <a:xfrm>
            <a:off x="2895600" y="281940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95" name="Line 14"/>
          <p:cNvSpPr>
            <a:spLocks noChangeShapeType="1"/>
          </p:cNvSpPr>
          <p:nvPr/>
        </p:nvSpPr>
        <p:spPr bwMode="auto">
          <a:xfrm>
            <a:off x="5562600" y="281940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96" name="Line 15"/>
          <p:cNvSpPr>
            <a:spLocks noChangeShapeType="1"/>
          </p:cNvSpPr>
          <p:nvPr/>
        </p:nvSpPr>
        <p:spPr bwMode="auto">
          <a:xfrm flipH="1">
            <a:off x="5486400" y="312420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797" name="Line 16"/>
          <p:cNvSpPr>
            <a:spLocks noChangeShapeType="1"/>
          </p:cNvSpPr>
          <p:nvPr/>
        </p:nvSpPr>
        <p:spPr bwMode="auto">
          <a:xfrm flipH="1">
            <a:off x="2819400" y="312420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pic>
        <p:nvPicPr>
          <p:cNvPr id="2097165" name="Picture 17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3962400" y="1981200"/>
            <a:ext cx="1531938" cy="1727200"/>
          </a:xfrm>
          <a:prstGeom prst="rect"/>
          <a:noFill/>
          <a:ln>
            <a:noFill/>
          </a:ln>
        </p:spPr>
      </p:pic>
      <p:pic>
        <p:nvPicPr>
          <p:cNvPr id="2097166" name="Picture 19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1143000" y="2362200"/>
            <a:ext cx="1447800" cy="1190625"/>
          </a:xfrm>
          <a:prstGeom prst="rect"/>
          <a:noFill/>
          <a:ln>
            <a:noFill/>
          </a:ln>
        </p:spPr>
      </p:pic>
      <p:pic>
        <p:nvPicPr>
          <p:cNvPr id="2097167" name="Picture 20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 bwMode="auto">
          <a:xfrm>
            <a:off x="6629400" y="2338388"/>
            <a:ext cx="1600200" cy="1090612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>
    <p:sndAc>
      <p:stSnd>
        <p:snd r:embed="rId4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pPr eaLnBrk="1" hangingPunct="1"/>
            <a:r>
              <a:rPr altLang="en-US" lang="en-US"/>
              <a:t>Firewall as Secretary</a:t>
            </a:r>
          </a:p>
        </p:txBody>
      </p:sp>
      <p:sp>
        <p:nvSpPr>
          <p:cNvPr id="10487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958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A firewall is like a </a:t>
            </a:r>
            <a:r>
              <a:rPr altLang="en-US" b="1" dirty="0" sz="2800" lang="en-US">
                <a:solidFill>
                  <a:schemeClr val="accent2"/>
                </a:solidFill>
              </a:rPr>
              <a:t>secretary</a:t>
            </a:r>
            <a:endParaRPr altLang="en-US" dirty="0" sz="2800" lang="en-US"/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To meet with an executive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First contact the secretary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Secretary decides if meeting is reasonable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Secretary filters out many requests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You want to meet chair of CS department?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Secretary does some filtering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You want to meet President of EGYPT?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Secretary does lots of filtering!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dirty="0" lang="en-US"/>
              <a:t>Firewall Terminology</a:t>
            </a:r>
          </a:p>
        </p:txBody>
      </p:sp>
      <p:sp>
        <p:nvSpPr>
          <p:cNvPr id="10488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67338"/>
            <a:ext cx="8001000" cy="3876261"/>
          </a:xfrm>
        </p:spPr>
        <p:txBody>
          <a:bodyPr>
            <a:normAutofit/>
          </a:bodyPr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No standard terminology 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Types of firewalls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dirty="0" sz="2000" lang="en-US">
                <a:solidFill>
                  <a:schemeClr val="accent2"/>
                </a:solidFill>
              </a:rPr>
              <a:t>Packet filter</a:t>
            </a:r>
            <a:r>
              <a:rPr altLang="en-US" dirty="0" sz="2000" lang="en-US"/>
              <a:t> </a:t>
            </a:r>
            <a:r>
              <a:rPr altLang="en-US" dirty="0" sz="2000" lang="en-US">
                <a:sym typeface="Symbol" panose="05050102010706020507" pitchFamily="18" charset="2"/>
              </a:rPr>
              <a:t></a:t>
            </a:r>
            <a:r>
              <a:rPr altLang="en-US" dirty="0" sz="2000" lang="en-US"/>
              <a:t> works at network layer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dirty="0" sz="2000" lang="en-US">
                <a:solidFill>
                  <a:schemeClr val="accent2"/>
                </a:solidFill>
              </a:rPr>
              <a:t>Stateful packet filter</a:t>
            </a:r>
            <a:r>
              <a:rPr altLang="en-US" dirty="0" sz="2000" lang="en-US"/>
              <a:t> </a:t>
            </a:r>
            <a:r>
              <a:rPr altLang="en-US" dirty="0" sz="2000" lang="en-US">
                <a:sym typeface="Symbol" panose="05050102010706020507" pitchFamily="18" charset="2"/>
              </a:rPr>
              <a:t></a:t>
            </a:r>
            <a:r>
              <a:rPr altLang="en-US" dirty="0" sz="2000" lang="en-US"/>
              <a:t> transport layer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b="1" dirty="0" sz="2000" lang="en-US">
                <a:solidFill>
                  <a:schemeClr val="accent2"/>
                </a:solidFill>
              </a:rPr>
              <a:t>Application proxy</a:t>
            </a:r>
            <a:r>
              <a:rPr altLang="en-US" dirty="0" sz="2000" lang="en-US"/>
              <a:t> </a:t>
            </a:r>
            <a:r>
              <a:rPr altLang="en-US" dirty="0" sz="2000" lang="en-US">
                <a:sym typeface="Symbol" panose="05050102010706020507" pitchFamily="18" charset="2"/>
              </a:rPr>
              <a:t></a:t>
            </a:r>
            <a:r>
              <a:rPr altLang="en-US" dirty="0" sz="2000" lang="en-US"/>
              <a:t> application layer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Personal firewall </a:t>
            </a:r>
            <a:r>
              <a:rPr altLang="en-US" dirty="0" sz="2000" lang="en-US">
                <a:sym typeface="Symbol" panose="05050102010706020507" pitchFamily="18" charset="2"/>
              </a:rPr>
              <a:t></a:t>
            </a:r>
            <a:r>
              <a:rPr altLang="en-US" dirty="0" sz="2000" lang="en-US"/>
              <a:t> for single user, home network, etc.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dirty="0" lang="en-US"/>
              <a:t>Packet Filter</a:t>
            </a:r>
          </a:p>
        </p:txBody>
      </p:sp>
      <p:sp>
        <p:nvSpPr>
          <p:cNvPr id="104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6096000" cy="41148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Operates at network layer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Can filters based on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Source IP address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Destination IP address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Source Port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400" lang="en-US"/>
              <a:t>Destination Port</a:t>
            </a:r>
          </a:p>
        </p:txBody>
      </p:sp>
      <p:sp>
        <p:nvSpPr>
          <p:cNvPr id="1048804" name="Rectangle 4"/>
          <p:cNvSpPr>
            <a:spLocks noChangeArrowheads="1"/>
          </p:cNvSpPr>
          <p:nvPr/>
        </p:nvSpPr>
        <p:spPr bwMode="auto">
          <a:xfrm>
            <a:off x="6546850" y="1917700"/>
            <a:ext cx="1892300" cy="3530600"/>
          </a:xfrm>
          <a:prstGeom prst="rect"/>
          <a:solidFill>
            <a:schemeClr val="accent2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grpSp>
        <p:nvGrpSpPr>
          <p:cNvPr id="103" name="Group 5"/>
          <p:cNvGrpSpPr/>
          <p:nvPr/>
        </p:nvGrpSpPr>
        <p:grpSpPr bwMode="auto">
          <a:xfrm>
            <a:off x="6477000" y="2032000"/>
            <a:ext cx="1898650" cy="3530600"/>
            <a:chOff x="3076" y="888"/>
            <a:chExt cx="1196" cy="2224"/>
          </a:xfrm>
        </p:grpSpPr>
        <p:sp>
          <p:nvSpPr>
            <p:cNvPr id="1048805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/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 wrap="none"/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altLang="en-US" lang="ar-EG"/>
            </a:p>
          </p:txBody>
        </p:sp>
        <p:sp>
          <p:nvSpPr>
            <p:cNvPr id="1048806" name="Text Box 7"/>
            <p:cNvSpPr txBox="1">
              <a:spLocks noChangeArrowheads="1"/>
            </p:cNvSpPr>
            <p:nvPr/>
          </p:nvSpPr>
          <p:spPr bwMode="auto">
            <a:xfrm>
              <a:off x="3169" y="949"/>
              <a:ext cx="1034" cy="2128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altLang="en-US" lang="en-US">
                  <a:solidFill>
                    <a:schemeClr val="folHlink"/>
                  </a:solidFill>
                  <a:latin typeface="Arial" panose="020B0604020202020204" pitchFamily="34" charset="0"/>
                </a:rPr>
                <a:t>application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solidFill>
                    <a:schemeClr val="folHlink"/>
                  </a:solidFill>
                  <a:latin typeface="Arial" panose="020B0604020202020204" pitchFamily="34" charset="0"/>
                </a:rPr>
                <a:t>transport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rgbClr val="FF0000"/>
                  </a:solidFill>
                  <a:latin typeface="Arial" panose="020B0604020202020204" pitchFamily="34" charset="0"/>
                </a:rPr>
                <a:t>network</a:t>
              </a: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link</a:t>
              </a: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048807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08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09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10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</p:grpSp>
    </p:spTree>
  </p:cSld>
  <p:clrMapOvr>
    <a:masterClrMapping/>
  </p:clrMapOvr>
  <p:transition spd="slow">
    <p:sndAc>
      <p:stSnd>
        <p:snd r:embed="rId1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Packet Filter</a:t>
            </a:r>
          </a:p>
        </p:txBody>
      </p:sp>
      <p:sp>
        <p:nvSpPr>
          <p:cNvPr id="1048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6096000" cy="4114800"/>
          </a:xfrm>
        </p:spPr>
        <p:txBody>
          <a:bodyPr>
            <a:normAutofit/>
          </a:bodyPr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Advantage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1800" lang="en-US"/>
              <a:t>Speed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Disadvantages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1800" lang="en-US"/>
              <a:t>No state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1800" lang="en-US"/>
              <a:t>Cannot see TCP connections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1800" lang="en-US"/>
              <a:t>Blind to application data</a:t>
            </a:r>
          </a:p>
        </p:txBody>
      </p:sp>
      <p:sp>
        <p:nvSpPr>
          <p:cNvPr id="1048813" name="Rectangle 4"/>
          <p:cNvSpPr>
            <a:spLocks noChangeArrowheads="1"/>
          </p:cNvSpPr>
          <p:nvPr/>
        </p:nvSpPr>
        <p:spPr bwMode="auto">
          <a:xfrm>
            <a:off x="6775450" y="1765300"/>
            <a:ext cx="1892300" cy="3530600"/>
          </a:xfrm>
          <a:prstGeom prst="rect"/>
          <a:solidFill>
            <a:schemeClr val="accent2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grpSp>
        <p:nvGrpSpPr>
          <p:cNvPr id="105" name="Group 5"/>
          <p:cNvGrpSpPr/>
          <p:nvPr/>
        </p:nvGrpSpPr>
        <p:grpSpPr bwMode="auto">
          <a:xfrm>
            <a:off x="6705600" y="1879600"/>
            <a:ext cx="1898650" cy="3530600"/>
            <a:chOff x="3076" y="888"/>
            <a:chExt cx="1196" cy="2224"/>
          </a:xfrm>
        </p:grpSpPr>
        <p:sp>
          <p:nvSpPr>
            <p:cNvPr id="1048814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/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 wrap="none"/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altLang="en-US" lang="ar-EG"/>
            </a:p>
          </p:txBody>
        </p:sp>
        <p:sp>
          <p:nvSpPr>
            <p:cNvPr id="1048815" name="Text Box 7"/>
            <p:cNvSpPr txBox="1">
              <a:spLocks noChangeArrowheads="1"/>
            </p:cNvSpPr>
            <p:nvPr/>
          </p:nvSpPr>
          <p:spPr bwMode="auto">
            <a:xfrm>
              <a:off x="3169" y="949"/>
              <a:ext cx="1034" cy="2128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altLang="en-US" lang="en-US">
                  <a:solidFill>
                    <a:schemeClr val="folHlink"/>
                  </a:solidFill>
                  <a:latin typeface="Arial" panose="020B0604020202020204" pitchFamily="34" charset="0"/>
                </a:rPr>
                <a:t>application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solidFill>
                    <a:schemeClr val="folHlink"/>
                  </a:solidFill>
                  <a:latin typeface="Arial" panose="020B0604020202020204" pitchFamily="34" charset="0"/>
                </a:rPr>
                <a:t>transport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rgbClr val="FF0000"/>
                  </a:solidFill>
                  <a:latin typeface="Arial" panose="020B0604020202020204" pitchFamily="34" charset="0"/>
                </a:rPr>
                <a:t>network</a:t>
              </a: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link</a:t>
              </a: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048816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17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18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19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</p:grpSp>
    </p:spTree>
  </p:cSld>
  <p:clrMapOvr>
    <a:masterClrMapping/>
  </p:clrMapOvr>
  <p:transition spd="slow">
    <p:sndAc>
      <p:stSnd>
        <p:snd r:embed="rId1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066800"/>
          </a:xfrm>
        </p:spPr>
        <p:txBody>
          <a:bodyPr/>
          <a:p>
            <a:pPr eaLnBrk="1" hangingPunct="1"/>
            <a:r>
              <a:rPr altLang="en-US" lang="en-US"/>
              <a:t>TCP ACK Scan</a:t>
            </a:r>
          </a:p>
        </p:txBody>
      </p:sp>
      <p:sp>
        <p:nvSpPr>
          <p:cNvPr id="1048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343400"/>
          </a:xfrm>
        </p:spPr>
        <p:txBody>
          <a:bodyPr/>
          <a:p>
            <a:pPr eaLnBrk="1" hangingPunct="1"/>
            <a:r>
              <a:rPr altLang="en-US" sz="2800" lang="en-US"/>
              <a:t>Attacker sends packet with ACK bit set, </a:t>
            </a:r>
            <a:r>
              <a:rPr altLang="en-US" b="1" sz="2800" lang="en-US">
                <a:solidFill>
                  <a:schemeClr val="accent2"/>
                </a:solidFill>
              </a:rPr>
              <a:t>without</a:t>
            </a:r>
            <a:r>
              <a:rPr altLang="en-US" sz="2800" lang="en-US"/>
              <a:t> prior 3-way handshake</a:t>
            </a:r>
          </a:p>
          <a:p>
            <a:pPr eaLnBrk="1" hangingPunct="1"/>
            <a:r>
              <a:rPr altLang="en-US" sz="2800" lang="en-US"/>
              <a:t>Violates TCP/IP protocol</a:t>
            </a:r>
          </a:p>
          <a:p>
            <a:pPr eaLnBrk="1" hangingPunct="1"/>
            <a:r>
              <a:rPr altLang="en-US" sz="2800" lang="en-US"/>
              <a:t>ACK packet pass thru packet filter firewall</a:t>
            </a:r>
          </a:p>
          <a:p>
            <a:pPr eaLnBrk="1" hangingPunct="1" lvl="1"/>
            <a:r>
              <a:rPr altLang="en-US" sz="2400" lang="en-US"/>
              <a:t>Appears to be part of an ongoing connection</a:t>
            </a:r>
          </a:p>
          <a:p>
            <a:pPr eaLnBrk="1" hangingPunct="1"/>
            <a:r>
              <a:rPr altLang="en-US" sz="2800" lang="en-US"/>
              <a:t>RST sent by recipient of such packet</a:t>
            </a:r>
          </a:p>
          <a:p>
            <a:pPr eaLnBrk="1" hangingPunct="1"/>
            <a:r>
              <a:rPr altLang="en-US" sz="2800" lang="en-US"/>
              <a:t>Attacker scans for open ports thru firewall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TCP ACK Scan</a:t>
            </a:r>
          </a:p>
        </p:txBody>
      </p:sp>
      <p:sp>
        <p:nvSpPr>
          <p:cNvPr id="1048823" name="Rectangle 6"/>
          <p:cNvSpPr>
            <a:spLocks noChangeArrowheads="1"/>
          </p:cNvSpPr>
          <p:nvPr/>
        </p:nvSpPr>
        <p:spPr bwMode="auto">
          <a:xfrm>
            <a:off x="4284663" y="3924300"/>
            <a:ext cx="973137" cy="80010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2000" lang="en-US"/>
              <a:t>Packet</a:t>
            </a:r>
          </a:p>
          <a:p>
            <a:pPr algn="ctr" eaLnBrk="1" hangingPunct="1"/>
            <a:r>
              <a:rPr altLang="en-US" sz="2000" lang="en-US"/>
              <a:t>Filter</a:t>
            </a:r>
          </a:p>
        </p:txBody>
      </p:sp>
      <p:sp>
        <p:nvSpPr>
          <p:cNvPr id="1048824" name="Rectangle 8"/>
          <p:cNvSpPr>
            <a:spLocks noChangeArrowheads="1"/>
          </p:cNvSpPr>
          <p:nvPr/>
        </p:nvSpPr>
        <p:spPr bwMode="auto">
          <a:xfrm>
            <a:off x="228600" y="3821113"/>
            <a:ext cx="892175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2000" lang="en-US"/>
              <a:t>Trudy</a:t>
            </a:r>
          </a:p>
        </p:txBody>
      </p:sp>
      <p:sp>
        <p:nvSpPr>
          <p:cNvPr id="1048825" name="Rectangle 9"/>
          <p:cNvSpPr>
            <a:spLocks noChangeArrowheads="1"/>
          </p:cNvSpPr>
          <p:nvPr/>
        </p:nvSpPr>
        <p:spPr bwMode="auto">
          <a:xfrm>
            <a:off x="7696200" y="3841750"/>
            <a:ext cx="1211263" cy="73025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altLang="en-US" sz="2000" lang="en-US"/>
              <a:t>Internal</a:t>
            </a:r>
          </a:p>
          <a:p>
            <a:pPr algn="ctr" eaLnBrk="1" hangingPunct="1">
              <a:lnSpc>
                <a:spcPct val="90000"/>
              </a:lnSpc>
            </a:pPr>
            <a:r>
              <a:rPr altLang="en-US" sz="2000" lang="en-US"/>
              <a:t>Network</a:t>
            </a:r>
          </a:p>
        </p:txBody>
      </p:sp>
      <p:sp>
        <p:nvSpPr>
          <p:cNvPr id="1048826" name="Line 10"/>
          <p:cNvSpPr>
            <a:spLocks noChangeShapeType="1"/>
          </p:cNvSpPr>
          <p:nvPr/>
        </p:nvSpPr>
        <p:spPr bwMode="auto">
          <a:xfrm>
            <a:off x="1379538" y="2430463"/>
            <a:ext cx="26670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27" name="Rectangle 11"/>
          <p:cNvSpPr>
            <a:spLocks noChangeArrowheads="1"/>
          </p:cNvSpPr>
          <p:nvPr/>
        </p:nvSpPr>
        <p:spPr bwMode="auto">
          <a:xfrm>
            <a:off x="1371600" y="2019300"/>
            <a:ext cx="2293938" cy="411163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1800" lang="en-US"/>
              <a:t>ACK dest port 1207</a:t>
            </a:r>
          </a:p>
        </p:txBody>
      </p:sp>
      <p:sp>
        <p:nvSpPr>
          <p:cNvPr id="1048828" name="Line 12"/>
          <p:cNvSpPr>
            <a:spLocks noChangeShapeType="1"/>
          </p:cNvSpPr>
          <p:nvPr/>
        </p:nvSpPr>
        <p:spPr bwMode="auto">
          <a:xfrm>
            <a:off x="1379538" y="2887663"/>
            <a:ext cx="26670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29" name="Rectangle 13"/>
          <p:cNvSpPr>
            <a:spLocks noChangeArrowheads="1"/>
          </p:cNvSpPr>
          <p:nvPr/>
        </p:nvSpPr>
        <p:spPr bwMode="auto">
          <a:xfrm>
            <a:off x="1371600" y="2476500"/>
            <a:ext cx="2293938" cy="411163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1800" lang="en-US"/>
              <a:t>ACK dest port 1208</a:t>
            </a:r>
          </a:p>
        </p:txBody>
      </p:sp>
      <p:sp>
        <p:nvSpPr>
          <p:cNvPr id="1048830" name="Line 14"/>
          <p:cNvSpPr>
            <a:spLocks noChangeShapeType="1"/>
          </p:cNvSpPr>
          <p:nvPr/>
        </p:nvSpPr>
        <p:spPr bwMode="auto">
          <a:xfrm>
            <a:off x="1387475" y="3375025"/>
            <a:ext cx="6232525" cy="15875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31" name="Rectangle 15"/>
          <p:cNvSpPr>
            <a:spLocks noChangeArrowheads="1"/>
          </p:cNvSpPr>
          <p:nvPr/>
        </p:nvSpPr>
        <p:spPr bwMode="auto">
          <a:xfrm>
            <a:off x="1379538" y="2963863"/>
            <a:ext cx="2293937" cy="411162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1800" lang="en-US"/>
              <a:t>ACK dest port 1209</a:t>
            </a:r>
          </a:p>
        </p:txBody>
      </p:sp>
      <p:sp>
        <p:nvSpPr>
          <p:cNvPr id="1048832" name="Line 19"/>
          <p:cNvSpPr>
            <a:spLocks noChangeShapeType="1"/>
          </p:cNvSpPr>
          <p:nvPr/>
        </p:nvSpPr>
        <p:spPr bwMode="auto">
          <a:xfrm flipH="1">
            <a:off x="1371600" y="3771900"/>
            <a:ext cx="62484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33" name="Rectangle 20"/>
          <p:cNvSpPr>
            <a:spLocks noChangeArrowheads="1"/>
          </p:cNvSpPr>
          <p:nvPr/>
        </p:nvSpPr>
        <p:spPr bwMode="auto">
          <a:xfrm>
            <a:off x="6064250" y="3779838"/>
            <a:ext cx="641350" cy="411162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1800" lang="en-US"/>
              <a:t>RST</a:t>
            </a:r>
          </a:p>
        </p:txBody>
      </p:sp>
      <p:pic>
        <p:nvPicPr>
          <p:cNvPr id="2097168" name="Picture 2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4191000" y="2667000"/>
            <a:ext cx="381000" cy="379413"/>
          </a:xfrm>
          <a:prstGeom prst="rect"/>
          <a:noFill/>
          <a:ln>
            <a:noFill/>
          </a:ln>
        </p:spPr>
      </p:pic>
      <p:pic>
        <p:nvPicPr>
          <p:cNvPr id="2097169" name="Picture 24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4191000" y="2209800"/>
            <a:ext cx="381000" cy="379413"/>
          </a:xfrm>
          <a:prstGeom prst="rect"/>
          <a:noFill/>
          <a:ln>
            <a:noFill/>
          </a:ln>
        </p:spPr>
      </p:pic>
      <p:sp>
        <p:nvSpPr>
          <p:cNvPr id="1048834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685800" y="4800600"/>
            <a:ext cx="8001000" cy="1371600"/>
          </a:xfrm>
          <a:noFill/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Attacker knows port 1209 open thru firewall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400" lang="en-US"/>
              <a:t>A </a:t>
            </a:r>
            <a:r>
              <a:rPr altLang="en-US" b="1" dirty="0" sz="2400" lang="en-US">
                <a:solidFill>
                  <a:schemeClr val="accent2"/>
                </a:solidFill>
              </a:rPr>
              <a:t>stateful packet filter</a:t>
            </a:r>
            <a:r>
              <a:rPr altLang="en-US" dirty="0" sz="2400" lang="en-US"/>
              <a:t> can prevent this (next)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Since ACK scans not part of established connections</a:t>
            </a:r>
          </a:p>
        </p:txBody>
      </p:sp>
      <p:pic>
        <p:nvPicPr>
          <p:cNvPr id="2097170" name="Picture 26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4392613" y="3124200"/>
            <a:ext cx="788987" cy="889000"/>
          </a:xfrm>
          <a:prstGeom prst="rect"/>
          <a:noFill/>
          <a:ln>
            <a:noFill/>
          </a:ln>
        </p:spPr>
      </p:pic>
      <p:pic>
        <p:nvPicPr>
          <p:cNvPr id="2097171" name="Picture 27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 bwMode="auto">
          <a:xfrm>
            <a:off x="7924800" y="2971800"/>
            <a:ext cx="657225" cy="914400"/>
          </a:xfrm>
          <a:prstGeom prst="rect"/>
          <a:noFill/>
          <a:ln>
            <a:noFill/>
          </a:ln>
        </p:spPr>
      </p:pic>
      <p:pic>
        <p:nvPicPr>
          <p:cNvPr id="2097172" name="Picture 28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 bwMode="auto">
          <a:xfrm>
            <a:off x="152400" y="3067050"/>
            <a:ext cx="1114425" cy="74295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>
    <p:sndAc>
      <p:stSnd>
        <p:snd r:embed="rId5"/>
      </p:stSnd>
    </p:sndAc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8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dur="500" id="7"/>
                                        <p:tgtEl>
                                          <p:spTgt spid="1048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rrow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id="12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reaking Glass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4" nodeType="clickPar">
                      <p:stCondLst>
                        <p:cond delay="indefinite"/>
                      </p:stCondLst>
                      <p:childTnLst>
                        <p:par>
                          <p:cTn fill="hold" id="15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16" nodeType="clickEffect" presetClass="entr" presetID="8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dur="500" id="18"/>
                                        <p:tgtEl>
                                          <p:spTgt spid="1048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rrow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9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20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fill="hold" id="23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reaking Glass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 nodeType="clickPar">
                      <p:stCondLst>
                        <p:cond delay="indefinite"/>
                      </p:stCondLst>
                      <p:childTnLst>
                        <p:par>
                          <p:cTn fill="hold" id="26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27" nodeType="clickEffect" presetClass="entr" presetID="8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dur="500" id="29"/>
                                        <p:tgtEl>
                                          <p:spTgt spid="10488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rrow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0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31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 nodeType="clickPar">
                      <p:stCondLst>
                        <p:cond delay="indefinite"/>
                      </p:stCondLst>
                      <p:childTnLst>
                        <p:par>
                          <p:cTn fill="hold" id="3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0" presetSubtype="12500678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rrow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7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38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0" nodeType="clickPar">
                      <p:stCondLst>
                        <p:cond delay="indefinite"/>
                      </p:stCondLst>
                      <p:childTnLst>
                        <p:par>
                          <p:cTn fill="hold" id="41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2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44"/>
                                        <p:tgtEl>
                                          <p:spTgt spid="1048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 nodeType="clickPar">
                      <p:stCondLst>
                        <p:cond delay="indefinite"/>
                      </p:stCondLst>
                      <p:childTnLst>
                        <p:par>
                          <p:cTn fill="hold" id="46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7" nodeType="click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49"/>
                                        <p:tgtEl>
                                          <p:spTgt spid="1048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fill="hold" grpId="0" id="50" nodeType="withEffect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dur="500" id="52"/>
                                        <p:tgtEl>
                                          <p:spTgt spid="1048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27" grpId="0" autoUpdateAnimBg="0"/>
      <p:bldP spid="1048829" grpId="0" autoUpdateAnimBg="0"/>
      <p:bldP spid="1048831" grpId="0" autoUpdateAnimBg="0"/>
      <p:bldP spid="1048833" grpId="0" autoUpdateAnimBg="0"/>
      <p:bldP spid="104883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pPr eaLnBrk="1" hangingPunct="1"/>
            <a:r>
              <a:rPr altLang="en-US" dirty="0" lang="en-US"/>
              <a:t>Stateful Packet Filter</a:t>
            </a:r>
          </a:p>
        </p:txBody>
      </p:sp>
      <p:sp>
        <p:nvSpPr>
          <p:cNvPr id="1048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6096000" cy="4114800"/>
          </a:xfrm>
        </p:spPr>
        <p:txBody>
          <a:bodyPr/>
          <a:p>
            <a:pPr eaLnBrk="1" hangingPunct="1"/>
            <a:r>
              <a:rPr altLang="en-US" lang="en-US"/>
              <a:t>Adds </a:t>
            </a:r>
            <a:r>
              <a:rPr altLang="en-US" b="1" lang="en-US">
                <a:solidFill>
                  <a:schemeClr val="accent2"/>
                </a:solidFill>
              </a:rPr>
              <a:t>state</a:t>
            </a:r>
            <a:r>
              <a:rPr altLang="en-US" lang="en-US"/>
              <a:t> to packet filter</a:t>
            </a:r>
          </a:p>
          <a:p>
            <a:pPr eaLnBrk="1" hangingPunct="1"/>
            <a:r>
              <a:rPr altLang="en-US" lang="en-US"/>
              <a:t>Operates at transport layer</a:t>
            </a:r>
          </a:p>
          <a:p>
            <a:pPr eaLnBrk="1" hangingPunct="1"/>
            <a:r>
              <a:rPr altLang="en-US" lang="en-US"/>
              <a:t>Remembers TCP connections and flag bits</a:t>
            </a:r>
          </a:p>
          <a:p>
            <a:pPr eaLnBrk="1" hangingPunct="1"/>
            <a:r>
              <a:rPr altLang="en-US" lang="en-US"/>
              <a:t>Can even remember UDP packets (e.g., DNS requests)</a:t>
            </a:r>
          </a:p>
        </p:txBody>
      </p:sp>
      <p:sp>
        <p:nvSpPr>
          <p:cNvPr id="1048837" name="Rectangle 4"/>
          <p:cNvSpPr>
            <a:spLocks noChangeArrowheads="1"/>
          </p:cNvSpPr>
          <p:nvPr/>
        </p:nvSpPr>
        <p:spPr bwMode="auto">
          <a:xfrm>
            <a:off x="7080250" y="1765300"/>
            <a:ext cx="1892300" cy="3530600"/>
          </a:xfrm>
          <a:prstGeom prst="rect"/>
          <a:solidFill>
            <a:schemeClr val="accent2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grpSp>
        <p:nvGrpSpPr>
          <p:cNvPr id="109" name="Group 5"/>
          <p:cNvGrpSpPr/>
          <p:nvPr/>
        </p:nvGrpSpPr>
        <p:grpSpPr bwMode="auto">
          <a:xfrm>
            <a:off x="7010400" y="1879600"/>
            <a:ext cx="1898650" cy="3530600"/>
            <a:chOff x="3076" y="888"/>
            <a:chExt cx="1196" cy="2224"/>
          </a:xfrm>
        </p:grpSpPr>
        <p:sp>
          <p:nvSpPr>
            <p:cNvPr id="1048838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/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 wrap="none"/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altLang="en-US" lang="ar-EG"/>
            </a:p>
          </p:txBody>
        </p:sp>
        <p:sp>
          <p:nvSpPr>
            <p:cNvPr id="1048839" name="Text Box 7"/>
            <p:cNvSpPr txBox="1">
              <a:spLocks noChangeArrowheads="1"/>
            </p:cNvSpPr>
            <p:nvPr/>
          </p:nvSpPr>
          <p:spPr bwMode="auto">
            <a:xfrm>
              <a:off x="3169" y="949"/>
              <a:ext cx="1034" cy="2128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altLang="en-US" dirty="0" lang="en-US">
                  <a:solidFill>
                    <a:schemeClr val="folHlink"/>
                  </a:solidFill>
                  <a:latin typeface="Arial" panose="020B0604020202020204" pitchFamily="34" charset="0"/>
                </a:rPr>
                <a:t>application</a:t>
              </a:r>
              <a:endParaRPr altLang="en-US" dirty="0" lang="en-US">
                <a:latin typeface="Arial" panose="020B0604020202020204" pitchFamily="34" charset="0"/>
              </a:endParaRPr>
            </a:p>
            <a:p>
              <a:pPr algn="ctr"/>
              <a:endParaRPr altLang="en-US" dirty="0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dirty="0" lang="en-US">
                  <a:solidFill>
                    <a:srgbClr val="FF0000"/>
                  </a:solidFill>
                  <a:latin typeface="Arial" panose="020B0604020202020204" pitchFamily="34" charset="0"/>
                </a:rPr>
                <a:t>transport</a:t>
              </a:r>
              <a:endParaRPr altLang="en-US" dirty="0" lang="en-US">
                <a:latin typeface="Arial" panose="020B0604020202020204" pitchFamily="34" charset="0"/>
              </a:endParaRPr>
            </a:p>
            <a:p>
              <a:pPr algn="ctr"/>
              <a:endParaRPr altLang="en-US" dirty="0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dirty="0" lang="en-US">
                  <a:solidFill>
                    <a:schemeClr val="accent2"/>
                  </a:solidFill>
                  <a:latin typeface="Arial" panose="020B0604020202020204" pitchFamily="34" charset="0"/>
                </a:rPr>
                <a:t>network</a:t>
              </a:r>
              <a:endParaRPr altLang="en-US" b="1" dirty="0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dirty="0" lang="en-US">
                <a:latin typeface="Arial" panose="020B0604020202020204" pitchFamily="34" charset="0"/>
              </a:endParaRPr>
            </a:p>
            <a:p>
              <a:pPr algn="ctr"/>
              <a:r>
                <a:rPr altLang="en-US" dirty="0" lang="en-US">
                  <a:latin typeface="Arial" panose="020B0604020202020204" pitchFamily="34" charset="0"/>
                </a:rPr>
                <a:t>link</a:t>
              </a:r>
              <a:endParaRPr altLang="en-US" dirty="0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dirty="0" lang="en-US">
                <a:latin typeface="Arial" panose="020B0604020202020204" pitchFamily="34" charset="0"/>
              </a:endParaRPr>
            </a:p>
            <a:p>
              <a:pPr algn="ctr"/>
              <a:r>
                <a:rPr altLang="en-US" dirty="0" lang="en-US"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048840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41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42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43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</p:grpSp>
    </p:spTree>
  </p:cSld>
  <p:clrMapOvr>
    <a:masterClrMapping/>
  </p:clrMapOvr>
  <p:transition spd="slow">
    <p:sndAc>
      <p:stSnd>
        <p:snd r:embed="rId1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Stateful Packet Filter</a:t>
            </a:r>
          </a:p>
        </p:txBody>
      </p:sp>
      <p:sp>
        <p:nvSpPr>
          <p:cNvPr id="1048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399" y="2355273"/>
            <a:ext cx="6186055" cy="4017817"/>
          </a:xfrm>
        </p:spPr>
        <p:txBody>
          <a:bodyPr>
            <a:normAutofit/>
          </a:bodyPr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Advantages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Can do everything a packet filter can do plus...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Keep track of ongoing connections</a:t>
            </a:r>
          </a:p>
          <a:p>
            <a:pPr eaLnBrk="1" hangingPunct="1">
              <a:lnSpc>
                <a:spcPct val="90000"/>
              </a:lnSpc>
            </a:pPr>
            <a:r>
              <a:rPr altLang="en-US" dirty="0" sz="2800" lang="en-US"/>
              <a:t>Disadvantages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Cannot see application data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sz="2000" lang="en-US"/>
              <a:t>Slower than packet filtering</a:t>
            </a:r>
          </a:p>
        </p:txBody>
      </p:sp>
      <p:sp>
        <p:nvSpPr>
          <p:cNvPr id="1048846" name="Rectangle 4"/>
          <p:cNvSpPr>
            <a:spLocks noChangeArrowheads="1"/>
          </p:cNvSpPr>
          <p:nvPr/>
        </p:nvSpPr>
        <p:spPr bwMode="auto">
          <a:xfrm>
            <a:off x="7080250" y="1765300"/>
            <a:ext cx="1892300" cy="3530600"/>
          </a:xfrm>
          <a:prstGeom prst="rect"/>
          <a:solidFill>
            <a:schemeClr val="accent2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grpSp>
        <p:nvGrpSpPr>
          <p:cNvPr id="111" name="Group 5"/>
          <p:cNvGrpSpPr/>
          <p:nvPr/>
        </p:nvGrpSpPr>
        <p:grpSpPr bwMode="auto">
          <a:xfrm>
            <a:off x="7010400" y="1879600"/>
            <a:ext cx="1898650" cy="3530600"/>
            <a:chOff x="3076" y="888"/>
            <a:chExt cx="1196" cy="2224"/>
          </a:xfrm>
        </p:grpSpPr>
        <p:sp>
          <p:nvSpPr>
            <p:cNvPr id="1048847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/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 wrap="none"/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altLang="en-US" lang="ar-EG"/>
            </a:p>
          </p:txBody>
        </p:sp>
        <p:sp>
          <p:nvSpPr>
            <p:cNvPr id="1048848" name="Text Box 7"/>
            <p:cNvSpPr txBox="1">
              <a:spLocks noChangeArrowheads="1"/>
            </p:cNvSpPr>
            <p:nvPr/>
          </p:nvSpPr>
          <p:spPr bwMode="auto">
            <a:xfrm>
              <a:off x="3169" y="949"/>
              <a:ext cx="1034" cy="2128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altLang="en-US" lang="en-US">
                  <a:solidFill>
                    <a:schemeClr val="folHlink"/>
                  </a:solidFill>
                  <a:latin typeface="Arial" panose="020B0604020202020204" pitchFamily="34" charset="0"/>
                </a:rPr>
                <a:t>application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rgbClr val="FF0000"/>
                  </a:solidFill>
                  <a:latin typeface="Arial" panose="020B0604020202020204" pitchFamily="34" charset="0"/>
                </a:rPr>
                <a:t>transport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chemeClr val="accent2"/>
                  </a:solidFill>
                  <a:latin typeface="Arial" panose="020B0604020202020204" pitchFamily="34" charset="0"/>
                </a:rPr>
                <a:t>network</a:t>
              </a:r>
              <a:endParaRPr altLang="en-US" b="1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link</a:t>
              </a:r>
              <a:endParaRPr altLang="en-US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048849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50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51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52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</p:grpSp>
    </p:spTree>
  </p:cSld>
  <p:clrMapOvr>
    <a:masterClrMapping/>
  </p:clrMapOvr>
  <p:transition spd="slow">
    <p:sndAc>
      <p:stSnd>
        <p:snd r:embed="rId1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p>
            <a:pPr eaLnBrk="1" hangingPunct="1"/>
            <a:r>
              <a:rPr altLang="en-US" dirty="0" lang="en-US"/>
              <a:t>Application Proxy</a:t>
            </a:r>
          </a:p>
        </p:txBody>
      </p:sp>
      <p:sp>
        <p:nvSpPr>
          <p:cNvPr id="10488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6019800" cy="4267200"/>
          </a:xfrm>
        </p:spPr>
        <p:txBody>
          <a:bodyPr>
            <a:normAutofit/>
          </a:bodyPr>
          <a:p>
            <a:pPr eaLnBrk="1" hangingPunct="1" indent="-533400" marL="533400"/>
            <a:r>
              <a:rPr altLang="en-US" dirty="0" sz="2000" lang="en-US"/>
              <a:t>A </a:t>
            </a:r>
            <a:r>
              <a:rPr altLang="en-US" b="1" dirty="0" sz="2000" lang="en-US">
                <a:solidFill>
                  <a:schemeClr val="accent2"/>
                </a:solidFill>
              </a:rPr>
              <a:t>proxy</a:t>
            </a:r>
            <a:r>
              <a:rPr altLang="en-US" dirty="0" sz="2000" lang="en-US"/>
              <a:t> is something that acts on your behalf</a:t>
            </a:r>
          </a:p>
          <a:p>
            <a:pPr eaLnBrk="1" hangingPunct="1" indent="-533400" marL="533400"/>
            <a:r>
              <a:rPr altLang="en-US" dirty="0" sz="2000" lang="en-US"/>
              <a:t>Application proxy looks at incoming application data</a:t>
            </a:r>
          </a:p>
          <a:p>
            <a:pPr eaLnBrk="1" hangingPunct="1" indent="-533400" marL="533400"/>
            <a:r>
              <a:rPr altLang="en-US" dirty="0" sz="2000" lang="en-US"/>
              <a:t>Verifies that data is safe before letting it in</a:t>
            </a:r>
          </a:p>
        </p:txBody>
      </p:sp>
      <p:sp>
        <p:nvSpPr>
          <p:cNvPr id="1048855" name="Rectangle 4"/>
          <p:cNvSpPr>
            <a:spLocks noChangeArrowheads="1"/>
          </p:cNvSpPr>
          <p:nvPr/>
        </p:nvSpPr>
        <p:spPr bwMode="auto">
          <a:xfrm>
            <a:off x="7080250" y="1765300"/>
            <a:ext cx="1892300" cy="3530600"/>
          </a:xfrm>
          <a:prstGeom prst="rect"/>
          <a:solidFill>
            <a:schemeClr val="accent2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grpSp>
        <p:nvGrpSpPr>
          <p:cNvPr id="113" name="Group 5"/>
          <p:cNvGrpSpPr/>
          <p:nvPr/>
        </p:nvGrpSpPr>
        <p:grpSpPr bwMode="auto">
          <a:xfrm>
            <a:off x="7010400" y="1879600"/>
            <a:ext cx="1898650" cy="3530600"/>
            <a:chOff x="3076" y="888"/>
            <a:chExt cx="1196" cy="2224"/>
          </a:xfrm>
        </p:grpSpPr>
        <p:sp>
          <p:nvSpPr>
            <p:cNvPr id="1048856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/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 wrap="none"/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altLang="en-US" lang="ar-EG"/>
            </a:p>
          </p:txBody>
        </p:sp>
        <p:sp>
          <p:nvSpPr>
            <p:cNvPr id="1048857" name="Text Box 7"/>
            <p:cNvSpPr txBox="1">
              <a:spLocks noChangeArrowheads="1"/>
            </p:cNvSpPr>
            <p:nvPr/>
          </p:nvSpPr>
          <p:spPr bwMode="auto">
            <a:xfrm>
              <a:off x="3122" y="949"/>
              <a:ext cx="1129" cy="2128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altLang="en-US" b="1" lang="en-US">
                  <a:solidFill>
                    <a:srgbClr val="FF0000"/>
                  </a:solidFill>
                  <a:latin typeface="Arial" panose="020B0604020202020204" pitchFamily="34" charset="0"/>
                </a:rPr>
                <a:t>application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chemeClr val="accent2"/>
                  </a:solidFill>
                  <a:latin typeface="Arial" panose="020B0604020202020204" pitchFamily="34" charset="0"/>
                </a:rPr>
                <a:t>transport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chemeClr val="accent2"/>
                  </a:solidFill>
                  <a:latin typeface="Arial" panose="020B0604020202020204" pitchFamily="34" charset="0"/>
                </a:rPr>
                <a:t>network</a:t>
              </a:r>
              <a:endParaRPr altLang="en-US" b="1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link</a:t>
              </a:r>
              <a:endParaRPr altLang="en-US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048858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59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60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61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</p:grpSp>
    </p:spTree>
  </p:cSld>
  <p:clrMapOvr>
    <a:masterClrMapping/>
  </p:clrMapOvr>
  <p:transition spd="slow">
    <p:sndAc>
      <p:stSnd>
        <p:snd r:embed="rId1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p>
            <a:pPr eaLnBrk="1" hangingPunct="1"/>
            <a:r>
              <a:rPr altLang="en-US" lang="en-US"/>
              <a:t>Application Proxy</a:t>
            </a:r>
          </a:p>
        </p:txBody>
      </p:sp>
      <p:sp>
        <p:nvSpPr>
          <p:cNvPr id="10488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6019800" cy="4267200"/>
          </a:xfrm>
        </p:spPr>
        <p:txBody>
          <a:bodyPr>
            <a:normAutofit/>
          </a:bodyPr>
          <a:p>
            <a:pPr eaLnBrk="1" hangingPunct="1" indent="-533400" marL="533400">
              <a:lnSpc>
                <a:spcPct val="90000"/>
              </a:lnSpc>
            </a:pPr>
            <a:r>
              <a:rPr altLang="en-US" dirty="0" sz="2400" lang="en-US"/>
              <a:t>Advantages</a:t>
            </a:r>
          </a:p>
          <a:p>
            <a:pPr eaLnBrk="1" hangingPunct="1" indent="-457200" lvl="1" marL="914400">
              <a:lnSpc>
                <a:spcPct val="90000"/>
              </a:lnSpc>
            </a:pPr>
            <a:r>
              <a:rPr altLang="en-US" dirty="0" sz="1800" lang="en-US"/>
              <a:t>Complete view of connections and applications data</a:t>
            </a:r>
          </a:p>
          <a:p>
            <a:pPr eaLnBrk="1" hangingPunct="1" indent="-457200" lvl="1" marL="914400">
              <a:lnSpc>
                <a:spcPct val="90000"/>
              </a:lnSpc>
            </a:pPr>
            <a:r>
              <a:rPr altLang="en-US" dirty="0" sz="1800" lang="en-US"/>
              <a:t>Filter bad data at application layer (viruses, Word macros)</a:t>
            </a:r>
          </a:p>
          <a:p>
            <a:pPr eaLnBrk="1" hangingPunct="1" indent="-533400" marL="533400">
              <a:lnSpc>
                <a:spcPct val="90000"/>
              </a:lnSpc>
            </a:pPr>
            <a:r>
              <a:rPr altLang="en-US" dirty="0" sz="2400" lang="en-US"/>
              <a:t>Disadvantage</a:t>
            </a:r>
          </a:p>
          <a:p>
            <a:pPr eaLnBrk="1" hangingPunct="1" indent="-457200" lvl="1" marL="914400">
              <a:lnSpc>
                <a:spcPct val="90000"/>
              </a:lnSpc>
            </a:pPr>
            <a:r>
              <a:rPr altLang="en-US" dirty="0" sz="1800" lang="en-US"/>
              <a:t>Speed</a:t>
            </a:r>
          </a:p>
        </p:txBody>
      </p:sp>
      <p:sp>
        <p:nvSpPr>
          <p:cNvPr id="1048864" name="Rectangle 4"/>
          <p:cNvSpPr>
            <a:spLocks noChangeArrowheads="1"/>
          </p:cNvSpPr>
          <p:nvPr/>
        </p:nvSpPr>
        <p:spPr bwMode="auto">
          <a:xfrm>
            <a:off x="7080250" y="1765300"/>
            <a:ext cx="1892300" cy="3530600"/>
          </a:xfrm>
          <a:prstGeom prst="rect"/>
          <a:solidFill>
            <a:schemeClr val="accent2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anchor="ctr"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endParaRPr altLang="en-US" lang="ar-EG"/>
          </a:p>
        </p:txBody>
      </p:sp>
      <p:grpSp>
        <p:nvGrpSpPr>
          <p:cNvPr id="115" name="Group 5"/>
          <p:cNvGrpSpPr/>
          <p:nvPr/>
        </p:nvGrpSpPr>
        <p:grpSpPr bwMode="auto">
          <a:xfrm>
            <a:off x="7010400" y="1879600"/>
            <a:ext cx="1898650" cy="3530600"/>
            <a:chOff x="3076" y="888"/>
            <a:chExt cx="1196" cy="2224"/>
          </a:xfrm>
        </p:grpSpPr>
        <p:sp>
          <p:nvSpPr>
            <p:cNvPr id="1048865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/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 wrap="none"/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altLang="en-US" lang="ar-EG"/>
            </a:p>
          </p:txBody>
        </p:sp>
        <p:sp>
          <p:nvSpPr>
            <p:cNvPr id="1048866" name="Text Box 7"/>
            <p:cNvSpPr txBox="1">
              <a:spLocks noChangeArrowheads="1"/>
            </p:cNvSpPr>
            <p:nvPr/>
          </p:nvSpPr>
          <p:spPr bwMode="auto">
            <a:xfrm>
              <a:off x="3122" y="949"/>
              <a:ext cx="1129" cy="2128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eaLnBrk="0" hangingPunct="0" indent="-285750" marL="7429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eaLnBrk="0" hangingPunct="0" indent="-228600" marL="11430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eaLnBrk="0" hangingPunct="0" indent="-228600" marL="16002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eaLnBrk="0" hangingPunct="0" indent="-228600" marL="20574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altLang="en-US" b="1" lang="en-US">
                  <a:solidFill>
                    <a:srgbClr val="FF0000"/>
                  </a:solidFill>
                  <a:latin typeface="Arial" panose="020B0604020202020204" pitchFamily="34" charset="0"/>
                </a:rPr>
                <a:t>application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chemeClr val="accent2"/>
                  </a:solidFill>
                  <a:latin typeface="Arial" panose="020B0604020202020204" pitchFamily="34" charset="0"/>
                </a:rPr>
                <a:t>transport</a:t>
              </a:r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b="1" lang="en-US">
                  <a:solidFill>
                    <a:schemeClr val="accent2"/>
                  </a:solidFill>
                  <a:latin typeface="Arial" panose="020B0604020202020204" pitchFamily="34" charset="0"/>
                </a:rPr>
                <a:t>network</a:t>
              </a:r>
              <a:endParaRPr altLang="en-US" b="1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link</a:t>
              </a:r>
              <a:endParaRPr altLang="en-US" lang="en-US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/>
              <a:endParaRPr altLang="en-US" lang="en-US">
                <a:latin typeface="Arial" panose="020B0604020202020204" pitchFamily="34" charset="0"/>
              </a:endParaRPr>
            </a:p>
            <a:p>
              <a:pPr algn="ctr"/>
              <a:r>
                <a:rPr altLang="en-US" lang="en-US"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048867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68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69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  <p:sp>
          <p:nvSpPr>
            <p:cNvPr id="1048870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/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 wrap="none"/>
            <a:p>
              <a:endParaRPr lang="en-US"/>
            </a:p>
          </p:txBody>
        </p:sp>
      </p:grpSp>
    </p:spTree>
  </p:cSld>
  <p:clrMapOvr>
    <a:masterClrMapping/>
  </p:clrMapOvr>
  <p:transition spd="slow">
    <p:sndAc>
      <p:stSnd>
        <p:snd r:embed="rId1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Application Proxy</a:t>
            </a:r>
          </a:p>
        </p:txBody>
      </p:sp>
      <p:sp>
        <p:nvSpPr>
          <p:cNvPr id="10488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6429" lnSpcReduction="20000"/>
          </a:bodyPr>
          <a:p>
            <a:pPr eaLnBrk="1" hangingPunct="1"/>
            <a:r>
              <a:rPr altLang="en-US" dirty="0" sz="2800" lang="en-US"/>
              <a:t>Creates a new packet before sending it thru to internal network</a:t>
            </a:r>
          </a:p>
          <a:p>
            <a:pPr eaLnBrk="1" hangingPunct="1"/>
            <a:r>
              <a:rPr altLang="en-US" dirty="0" sz="2800" lang="en-US"/>
              <a:t>Attacker must talk to </a:t>
            </a:r>
            <a:r>
              <a:rPr altLang="en-US" b="1" dirty="0" sz="2800" lang="en-US">
                <a:solidFill>
                  <a:schemeClr val="accent2"/>
                </a:solidFill>
              </a:rPr>
              <a:t>proxy</a:t>
            </a:r>
            <a:r>
              <a:rPr altLang="en-US" dirty="0" sz="2800" lang="en-US"/>
              <a:t> and convince it to forward message</a:t>
            </a:r>
          </a:p>
          <a:p>
            <a:pPr eaLnBrk="1" hangingPunct="1"/>
            <a:r>
              <a:rPr altLang="en-US" dirty="0" sz="2800" lang="en-US"/>
              <a:t>Proxy has complete view of connection</a:t>
            </a:r>
          </a:p>
          <a:p>
            <a:pPr eaLnBrk="1" hangingPunct="1"/>
            <a:r>
              <a:rPr altLang="en-US" dirty="0" sz="2800" lang="en-US"/>
              <a:t>Prevents some attacks stateful packet filter cannot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altLang="en-US" lang="en-US"/>
              <a:t>Personal Firewall</a:t>
            </a:r>
          </a:p>
        </p:txBody>
      </p:sp>
      <p:sp>
        <p:nvSpPr>
          <p:cNvPr id="1048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p>
            <a:pPr eaLnBrk="1" hangingPunct="1"/>
            <a:r>
              <a:rPr altLang="en-US" dirty="0" sz="2800" lang="en-US"/>
              <a:t>To protect one user or home network</a:t>
            </a:r>
          </a:p>
          <a:p>
            <a:pPr eaLnBrk="1" hangingPunct="1"/>
            <a:r>
              <a:rPr altLang="en-US" dirty="0" sz="2800" lang="en-US"/>
              <a:t>Can use any of the methods</a:t>
            </a:r>
          </a:p>
          <a:p>
            <a:pPr eaLnBrk="1" hangingPunct="1" lvl="1"/>
            <a:r>
              <a:rPr altLang="en-US" dirty="0" sz="2000" lang="en-US"/>
              <a:t>Packet filter</a:t>
            </a:r>
          </a:p>
          <a:p>
            <a:pPr eaLnBrk="1" hangingPunct="1" lvl="1"/>
            <a:r>
              <a:rPr altLang="en-US" dirty="0" sz="2000" lang="en-US"/>
              <a:t>Stateful packet filter</a:t>
            </a:r>
          </a:p>
          <a:p>
            <a:pPr eaLnBrk="1" hangingPunct="1" lvl="1"/>
            <a:r>
              <a:rPr altLang="en-US" dirty="0" sz="2000" lang="en-US"/>
              <a:t>Application proxy</a:t>
            </a:r>
          </a:p>
        </p:txBody>
      </p:sp>
    </p:spTree>
  </p:cSld>
  <p:clrMapOvr>
    <a:masterClrMapping/>
  </p:clrMapOvr>
  <p:transition spd="slow">
    <p:sndAc>
      <p:stSnd>
        <p:snd r:embed="rId1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1143000"/>
          </a:xfrm>
        </p:spPr>
        <p:txBody>
          <a:bodyPr/>
          <a:p>
            <a:pPr eaLnBrk="1" hangingPunct="1"/>
            <a:r>
              <a:rPr altLang="en-US" lang="en-US"/>
              <a:t>Firewalls and Defense in Depth</a:t>
            </a:r>
          </a:p>
        </p:txBody>
      </p:sp>
      <p:sp>
        <p:nvSpPr>
          <p:cNvPr id="1048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533400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altLang="en-US" lang="en-US"/>
              <a:t>Example security architecture</a:t>
            </a:r>
          </a:p>
        </p:txBody>
      </p:sp>
      <p:sp>
        <p:nvSpPr>
          <p:cNvPr id="1048877" name="Rectangle 7"/>
          <p:cNvSpPr>
            <a:spLocks noChangeArrowheads="1"/>
          </p:cNvSpPr>
          <p:nvPr/>
        </p:nvSpPr>
        <p:spPr bwMode="auto">
          <a:xfrm>
            <a:off x="371475" y="5421313"/>
            <a:ext cx="1228725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Internet</a:t>
            </a:r>
          </a:p>
        </p:txBody>
      </p:sp>
      <p:sp>
        <p:nvSpPr>
          <p:cNvPr id="1048878" name="Rectangle 8"/>
          <p:cNvSpPr>
            <a:spLocks noChangeArrowheads="1"/>
          </p:cNvSpPr>
          <p:nvPr/>
        </p:nvSpPr>
        <p:spPr bwMode="auto">
          <a:xfrm>
            <a:off x="7019925" y="5056188"/>
            <a:ext cx="1806575" cy="104933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altLang="en-US" sz="2000" lang="en-US"/>
              <a:t>Intranet with</a:t>
            </a:r>
          </a:p>
          <a:p>
            <a:pPr algn="ctr" eaLnBrk="1" hangingPunct="1">
              <a:lnSpc>
                <a:spcPct val="90000"/>
              </a:lnSpc>
            </a:pPr>
            <a:r>
              <a:rPr altLang="en-US" sz="2000" lang="en-US"/>
              <a:t>Personal</a:t>
            </a:r>
          </a:p>
          <a:p>
            <a:pPr algn="ctr" eaLnBrk="1" hangingPunct="1">
              <a:lnSpc>
                <a:spcPct val="90000"/>
              </a:lnSpc>
            </a:pPr>
            <a:r>
              <a:rPr altLang="en-US" sz="2000" lang="en-US"/>
              <a:t>Firewalls</a:t>
            </a:r>
          </a:p>
        </p:txBody>
      </p:sp>
      <p:sp>
        <p:nvSpPr>
          <p:cNvPr id="1048879" name="Rectangle 9"/>
          <p:cNvSpPr>
            <a:spLocks noChangeArrowheads="1"/>
          </p:cNvSpPr>
          <p:nvPr/>
        </p:nvSpPr>
        <p:spPr bwMode="auto">
          <a:xfrm>
            <a:off x="2989263" y="5219700"/>
            <a:ext cx="973137" cy="80010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2000" lang="en-US"/>
              <a:t>Packet</a:t>
            </a:r>
          </a:p>
          <a:p>
            <a:pPr algn="ctr" eaLnBrk="1" hangingPunct="1"/>
            <a:r>
              <a:rPr altLang="en-US" sz="2000" lang="en-US"/>
              <a:t>Filter</a:t>
            </a:r>
          </a:p>
        </p:txBody>
      </p:sp>
      <p:sp>
        <p:nvSpPr>
          <p:cNvPr id="1048880" name="Line 10"/>
          <p:cNvSpPr>
            <a:spLocks noChangeShapeType="1"/>
          </p:cNvSpPr>
          <p:nvPr/>
        </p:nvSpPr>
        <p:spPr bwMode="auto">
          <a:xfrm>
            <a:off x="2057400" y="451485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81" name="Line 11"/>
          <p:cNvSpPr>
            <a:spLocks noChangeShapeType="1"/>
          </p:cNvSpPr>
          <p:nvPr/>
        </p:nvSpPr>
        <p:spPr bwMode="auto">
          <a:xfrm>
            <a:off x="6172200" y="451485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82" name="Line 12"/>
          <p:cNvSpPr>
            <a:spLocks noChangeShapeType="1"/>
          </p:cNvSpPr>
          <p:nvPr/>
        </p:nvSpPr>
        <p:spPr bwMode="auto">
          <a:xfrm flipH="1">
            <a:off x="6172200" y="481965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83" name="Line 13"/>
          <p:cNvSpPr>
            <a:spLocks noChangeShapeType="1"/>
          </p:cNvSpPr>
          <p:nvPr/>
        </p:nvSpPr>
        <p:spPr bwMode="auto">
          <a:xfrm flipH="1">
            <a:off x="1981200" y="481965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84" name="Rectangle 16"/>
          <p:cNvSpPr>
            <a:spLocks noChangeArrowheads="1"/>
          </p:cNvSpPr>
          <p:nvPr/>
        </p:nvSpPr>
        <p:spPr bwMode="auto">
          <a:xfrm>
            <a:off x="4800600" y="5219700"/>
            <a:ext cx="1500188" cy="80010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r>
              <a:rPr altLang="en-US" sz="2000" lang="en-US"/>
              <a:t>Application</a:t>
            </a:r>
          </a:p>
          <a:p>
            <a:pPr algn="ctr" eaLnBrk="1" hangingPunct="1"/>
            <a:r>
              <a:rPr altLang="en-US" sz="2000" lang="en-US"/>
              <a:t>Proxy</a:t>
            </a:r>
          </a:p>
        </p:txBody>
      </p:sp>
      <p:sp>
        <p:nvSpPr>
          <p:cNvPr id="1048885" name="Line 17"/>
          <p:cNvSpPr>
            <a:spLocks noChangeShapeType="1"/>
          </p:cNvSpPr>
          <p:nvPr/>
        </p:nvSpPr>
        <p:spPr bwMode="auto">
          <a:xfrm>
            <a:off x="4038600" y="451485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86" name="Line 18"/>
          <p:cNvSpPr>
            <a:spLocks noChangeShapeType="1"/>
          </p:cNvSpPr>
          <p:nvPr/>
        </p:nvSpPr>
        <p:spPr bwMode="auto">
          <a:xfrm flipH="1">
            <a:off x="4038600" y="4819650"/>
            <a:ext cx="8382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sp>
        <p:nvSpPr>
          <p:cNvPr id="1048887" name="Line 19"/>
          <p:cNvSpPr>
            <a:spLocks noChangeShapeType="1"/>
          </p:cNvSpPr>
          <p:nvPr/>
        </p:nvSpPr>
        <p:spPr bwMode="auto">
          <a:xfrm flipV="1">
            <a:off x="4495800" y="2819400"/>
            <a:ext cx="0" cy="1981200"/>
          </a:xfrm>
          <a:prstGeom prst="line"/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888" name="Line 24"/>
          <p:cNvSpPr>
            <a:spLocks noChangeShapeType="1"/>
          </p:cNvSpPr>
          <p:nvPr/>
        </p:nvSpPr>
        <p:spPr bwMode="auto">
          <a:xfrm>
            <a:off x="3962400" y="3352800"/>
            <a:ext cx="5334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889" name="Line 25"/>
          <p:cNvSpPr>
            <a:spLocks noChangeShapeType="1"/>
          </p:cNvSpPr>
          <p:nvPr/>
        </p:nvSpPr>
        <p:spPr bwMode="auto">
          <a:xfrm>
            <a:off x="4495800" y="3048000"/>
            <a:ext cx="6858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890" name="Line 26"/>
          <p:cNvSpPr>
            <a:spLocks noChangeShapeType="1"/>
          </p:cNvSpPr>
          <p:nvPr/>
        </p:nvSpPr>
        <p:spPr bwMode="auto">
          <a:xfrm>
            <a:off x="4495800" y="3962400"/>
            <a:ext cx="685800" cy="0"/>
          </a:xfrm>
          <a:prstGeom prst="line"/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anchor="ctr" wrap="none"/>
          <a:p>
            <a:endParaRPr lang="en-US"/>
          </a:p>
        </p:txBody>
      </p:sp>
      <p:sp>
        <p:nvSpPr>
          <p:cNvPr id="1048891" name="Rectangle 27"/>
          <p:cNvSpPr>
            <a:spLocks noChangeArrowheads="1"/>
          </p:cNvSpPr>
          <p:nvPr/>
        </p:nvSpPr>
        <p:spPr bwMode="auto">
          <a:xfrm>
            <a:off x="5715000" y="2830513"/>
            <a:ext cx="1489075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FTP server</a:t>
            </a:r>
          </a:p>
        </p:txBody>
      </p:sp>
      <p:sp>
        <p:nvSpPr>
          <p:cNvPr id="1048892" name="Rectangle 28"/>
          <p:cNvSpPr>
            <a:spLocks noChangeArrowheads="1"/>
          </p:cNvSpPr>
          <p:nvPr/>
        </p:nvSpPr>
        <p:spPr bwMode="auto">
          <a:xfrm>
            <a:off x="5715000" y="3657600"/>
            <a:ext cx="1590675" cy="446088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2000" lang="en-US"/>
              <a:t>DNS server</a:t>
            </a:r>
          </a:p>
        </p:txBody>
      </p:sp>
      <p:sp>
        <p:nvSpPr>
          <p:cNvPr id="1048893" name="Rectangle 29"/>
          <p:cNvSpPr>
            <a:spLocks noChangeArrowheads="1"/>
          </p:cNvSpPr>
          <p:nvPr/>
        </p:nvSpPr>
        <p:spPr bwMode="auto">
          <a:xfrm>
            <a:off x="1524000" y="3135313"/>
            <a:ext cx="1735138" cy="446087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altLang="en-US" sz="1800" lang="en-US"/>
              <a:t>WWW </a:t>
            </a:r>
            <a:r>
              <a:rPr altLang="en-US" sz="2000" lang="en-US"/>
              <a:t>server</a:t>
            </a:r>
          </a:p>
        </p:txBody>
      </p:sp>
      <p:sp>
        <p:nvSpPr>
          <p:cNvPr id="1048894" name="Line 31"/>
          <p:cNvSpPr>
            <a:spLocks noChangeShapeType="1"/>
          </p:cNvSpPr>
          <p:nvPr/>
        </p:nvSpPr>
        <p:spPr bwMode="auto">
          <a:xfrm flipV="1">
            <a:off x="4495800" y="4038600"/>
            <a:ext cx="0" cy="457200"/>
          </a:xfrm>
          <a:prstGeom prst="line"/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wrap="none"/>
          <a:p>
            <a:endParaRPr lang="en-US"/>
          </a:p>
        </p:txBody>
      </p:sp>
      <p:pic>
        <p:nvPicPr>
          <p:cNvPr id="2097173" name="Picture 3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228600" y="4032250"/>
            <a:ext cx="1676400" cy="1377950"/>
          </a:xfrm>
          <a:prstGeom prst="rect"/>
          <a:noFill/>
          <a:ln>
            <a:noFill/>
          </a:ln>
        </p:spPr>
      </p:pic>
      <p:pic>
        <p:nvPicPr>
          <p:cNvPr id="2097174" name="Picture 3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7239000" y="4144963"/>
            <a:ext cx="1295400" cy="884237"/>
          </a:xfrm>
          <a:prstGeom prst="rect"/>
          <a:noFill/>
          <a:ln>
            <a:noFill/>
          </a:ln>
        </p:spPr>
      </p:pic>
      <p:pic>
        <p:nvPicPr>
          <p:cNvPr id="2097175" name="Picture 34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 bwMode="auto">
          <a:xfrm>
            <a:off x="3074988" y="4343400"/>
            <a:ext cx="811212" cy="914400"/>
          </a:xfrm>
          <a:prstGeom prst="rect"/>
          <a:noFill/>
          <a:ln>
            <a:noFill/>
          </a:ln>
        </p:spPr>
      </p:pic>
      <p:pic>
        <p:nvPicPr>
          <p:cNvPr id="2097176" name="Picture 35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 bwMode="auto">
          <a:xfrm>
            <a:off x="5154613" y="4368800"/>
            <a:ext cx="788987" cy="889000"/>
          </a:xfrm>
          <a:prstGeom prst="rect"/>
          <a:noFill/>
          <a:ln>
            <a:noFill/>
          </a:ln>
        </p:spPr>
      </p:pic>
      <p:pic>
        <p:nvPicPr>
          <p:cNvPr id="2097177" name="Picture 36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5"/>
          <a:srcRect/>
          <a:stretch>
            <a:fillRect/>
          </a:stretch>
        </p:blipFill>
        <p:spPr bwMode="auto">
          <a:xfrm>
            <a:off x="5257800" y="3581400"/>
            <a:ext cx="458788" cy="622300"/>
          </a:xfrm>
          <a:prstGeom prst="rect"/>
          <a:noFill/>
          <a:ln>
            <a:noFill/>
          </a:ln>
        </p:spPr>
      </p:pic>
      <p:pic>
        <p:nvPicPr>
          <p:cNvPr id="2097178" name="Picture 37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6"/>
          <a:srcRect/>
          <a:stretch>
            <a:fillRect/>
          </a:stretch>
        </p:blipFill>
        <p:spPr bwMode="auto">
          <a:xfrm>
            <a:off x="3276600" y="2819400"/>
            <a:ext cx="739775" cy="1073150"/>
          </a:xfrm>
          <a:prstGeom prst="rect"/>
          <a:noFill/>
          <a:ln>
            <a:noFill/>
          </a:ln>
        </p:spPr>
      </p:pic>
      <p:pic>
        <p:nvPicPr>
          <p:cNvPr id="2097179" name="Picture 38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5"/>
          <a:srcRect/>
          <a:stretch>
            <a:fillRect/>
          </a:stretch>
        </p:blipFill>
        <p:spPr bwMode="auto">
          <a:xfrm>
            <a:off x="5257800" y="2730500"/>
            <a:ext cx="458788" cy="6223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>
    <p:sndAc>
      <p:stSnd>
        <p:snd r:embed="rId7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457200"/>
            <a:ext cx="2777490" cy="94997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896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6031610" y="453643"/>
            <a:ext cx="2777490" cy="98554"/>
          </a:xfrm>
          <a:prstGeom prst="rect"/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897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181372" y="457200"/>
            <a:ext cx="2777490" cy="91440"/>
          </a:xfrm>
          <a:prstGeom prst="rect"/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48898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34900" y="3085764"/>
            <a:ext cx="8474199" cy="3338149"/>
          </a:xfrm>
          <a:prstGeom prst="rect"/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 useBgFill="1">
        <p:nvSpPr>
          <p:cNvPr id="1048899" name="Rectangl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grpSp>
        <p:nvGrpSpPr>
          <p:cNvPr id="120" name="Group 18"/>
          <p:cNvGrpSpPr>
            <a:grpSpLocks noMove="1" noResize="1" noRot="1" noGrp="1" noChangeAspect="1"/>
          </p:cNvGrpSpPr>
          <p:nvPr/>
        </p:nvGrpSpPr>
        <p:grpSpPr>
          <a:xfrm>
            <a:off x="328551" y="457200"/>
            <a:ext cx="2777491" cy="5935133"/>
            <a:chOff x="438068" y="457200"/>
            <a:chExt cx="3703320" cy="5935133"/>
          </a:xfrm>
        </p:grpSpPr>
        <p:sp>
          <p:nvSpPr>
            <p:cNvPr id="1048900" name="Rectangle 19"/>
            <p:cNvSpPr/>
            <p:nvPr/>
          </p:nvSpPr>
          <p:spPr>
            <a:xfrm>
              <a:off x="438068" y="601201"/>
              <a:ext cx="3702134" cy="5791132"/>
            </a:xfrm>
            <a:prstGeom prst="rect"/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US"/>
            </a:p>
          </p:txBody>
        </p:sp>
        <p:sp>
          <p:nvSpPr>
            <p:cNvPr id="1048901" name="Rectangle 20"/>
            <p:cNvSpPr/>
            <p:nvPr/>
          </p:nvSpPr>
          <p:spPr>
            <a:xfrm>
              <a:off x="438068" y="457200"/>
              <a:ext cx="3703320" cy="94997"/>
            </a:xfrm>
            <a:prstGeom prst="rect"/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US"/>
            </a:p>
          </p:txBody>
        </p:sp>
      </p:grpSp>
      <p:sp>
        <p:nvSpPr>
          <p:cNvPr id="1048902" name="Title 1"/>
          <p:cNvSpPr>
            <a:spLocks noGrp="1"/>
          </p:cNvSpPr>
          <p:nvPr>
            <p:ph type="title"/>
          </p:nvPr>
        </p:nvSpPr>
        <p:spPr>
          <a:xfrm>
            <a:off x="438150" y="1524001"/>
            <a:ext cx="2559050" cy="3478384"/>
          </a:xfrm>
        </p:spPr>
        <p:txBody>
          <a:bodyPr anchor="b" bIns="45720" lIns="91440" rIns="91440" rtlCol="0" tIns="45720" vert="horz">
            <a:normAutofit/>
          </a:bodyPr>
          <a:p>
            <a:pPr defTabSz="457200"/>
            <a:r>
              <a:rPr sz="3600" lang="en-US">
                <a:solidFill>
                  <a:srgbClr val="FFFFFF"/>
                </a:solidFill>
              </a:rPr>
              <a:t>Thank U</a:t>
            </a:r>
          </a:p>
        </p:txBody>
      </p:sp>
      <p:pic>
        <p:nvPicPr>
          <p:cNvPr id="2097180" name="Graphic 5" descr="Handshake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573789" y="880321"/>
            <a:ext cx="5073648" cy="5073648"/>
          </a:xfrm>
          <a:prstGeom prst="rect"/>
        </p:spPr>
      </p:pic>
    </p:spTree>
  </p:cSld>
  <p:clrMapOvr>
    <a:masterClrMapping/>
  </p:clrMapOvr>
  <p:transition spd="slow">
    <p:sndAc>
      <p:stSnd>
        <p:snd r:embed="rId1"/>
      </p:stSnd>
    </p:sndAc>
  </p:transition>
</p:sld>
</file>

<file path=ppt/theme/theme1.xml><?xml version="1.0" encoding="utf-8"?>
<a:theme xmlns:a="http://schemas.openxmlformats.org/drawingml/2006/main" name="DividendVTI">
  <a:themeElements>
    <a:clrScheme name="Blue II">
      <a:dk1>
        <a:sysClr lastClr="000000" val="windowText"/>
      </a:dk1>
      <a:lt1>
        <a:sysClr lastClr="FFFFFF" val="window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r="5040000" dist="381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dir="tl" rig="threePt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IT311 - Network Security</dc:title>
  <dc:creator>Dr Ali Hussein Ahmed</dc:creator>
  <cp:lastModifiedBy>Dr Ali Hussein Ahmed</cp:lastModifiedBy>
  <dcterms:created xsi:type="dcterms:W3CDTF">2022-01-17T02:48:46Z</dcterms:created>
  <dcterms:modified xsi:type="dcterms:W3CDTF">2026-04-06T23:10:01Z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